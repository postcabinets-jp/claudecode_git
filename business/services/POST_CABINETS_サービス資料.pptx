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6"/>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Shape 1"/>
          <p:cNvSpPr/>
          <p:nvPr/>
        </p:nvSpPr>
        <p:spPr>
          <a:xfrm>
            <a:off x="365760" y="3474720"/>
            <a:ext cx="2286000" cy="54864"/>
          </a:xfrm>
          <a:prstGeom prst="rect">
            <a:avLst/>
          </a:prstGeom>
          <a:solidFill>
            <a:srgbClr val="14B8A6"/>
          </a:solidFill>
          <a:ln/>
        </p:spPr>
      </p:sp>
      <p:sp>
        <p:nvSpPr>
          <p:cNvPr id="4" name="Text 2"/>
          <p:cNvSpPr/>
          <p:nvPr/>
        </p:nvSpPr>
        <p:spPr>
          <a:xfrm>
            <a:off x="365760" y="1097280"/>
            <a:ext cx="8229600" cy="731520"/>
          </a:xfrm>
          <a:prstGeom prst="rect">
            <a:avLst/>
          </a:prstGeom>
          <a:noFill/>
          <a:ln/>
        </p:spPr>
        <p:txBody>
          <a:bodyPr wrap="square" rtlCol="0" anchor="ctr"/>
          <a:lstStyle/>
          <a:p>
            <a:pPr indent="0" marL="0">
              <a:buNone/>
            </a:pPr>
            <a:r>
              <a:rPr lang="en-US" sz="1800" b="1" spc="600" kern="0" dirty="0">
                <a:solidFill>
                  <a:srgbClr val="14B8A6"/>
                </a:solidFill>
                <a:latin typeface="Calibri" pitchFamily="34" charset="0"/>
                <a:ea typeface="Calibri" pitchFamily="34" charset="-122"/>
                <a:cs typeface="Calibri" pitchFamily="34" charset="-120"/>
              </a:rPr>
              <a:t>POST CABINETS</a:t>
            </a:r>
            <a:endParaRPr lang="en-US" sz="1800" dirty="0"/>
          </a:p>
        </p:txBody>
      </p:sp>
      <p:sp>
        <p:nvSpPr>
          <p:cNvPr id="5" name="Text 3"/>
          <p:cNvSpPr/>
          <p:nvPr/>
        </p:nvSpPr>
        <p:spPr>
          <a:xfrm>
            <a:off x="365760" y="1737360"/>
            <a:ext cx="8229600" cy="1645920"/>
          </a:xfrm>
          <a:prstGeom prst="rect">
            <a:avLst/>
          </a:prstGeom>
          <a:noFill/>
          <a:ln/>
        </p:spPr>
        <p:txBody>
          <a:bodyPr wrap="square" rtlCol="0" anchor="ctr"/>
          <a:lstStyle/>
          <a:p>
            <a:pPr indent="0" marL="0">
              <a:lnSpc>
                <a:spcPct val="120000"/>
              </a:lnSpc>
              <a:buNone/>
            </a:pPr>
            <a:r>
              <a:rPr lang="en-US" sz="4000" b="1" dirty="0">
                <a:solidFill>
                  <a:srgbClr val="FFFFFF"/>
                </a:solidFill>
                <a:latin typeface="Trebuchet MS" pitchFamily="34" charset="0"/>
                <a:ea typeface="Trebuchet MS" pitchFamily="34" charset="-122"/>
                <a:cs typeface="Trebuchet MS" pitchFamily="34" charset="-120"/>
              </a:rPr>
              <a:t>AIコンサルティング</a:t>
            </a:r>
            <a:endParaRPr lang="en-US" sz="4000" dirty="0"/>
          </a:p>
          <a:p>
            <a:pPr indent="0" marL="0">
              <a:lnSpc>
                <a:spcPct val="120000"/>
              </a:lnSpc>
              <a:buNone/>
            </a:pPr>
            <a:r>
              <a:rPr lang="en-US" sz="4000" b="1" dirty="0">
                <a:solidFill>
                  <a:srgbClr val="FFFFFF"/>
                </a:solidFill>
                <a:latin typeface="Trebuchet MS" pitchFamily="34" charset="0"/>
                <a:ea typeface="Trebuchet MS" pitchFamily="34" charset="-122"/>
                <a:cs typeface="Trebuchet MS" pitchFamily="34" charset="-120"/>
              </a:rPr>
              <a:t>サービス資料</a:t>
            </a:r>
            <a:endParaRPr lang="en-US" sz="4000" dirty="0"/>
          </a:p>
        </p:txBody>
      </p:sp>
      <p:sp>
        <p:nvSpPr>
          <p:cNvPr id="6" name="Text 4"/>
          <p:cNvSpPr/>
          <p:nvPr/>
        </p:nvSpPr>
        <p:spPr>
          <a:xfrm>
            <a:off x="365760" y="3657600"/>
            <a:ext cx="6400800" cy="822960"/>
          </a:xfrm>
          <a:prstGeom prst="rect">
            <a:avLst/>
          </a:prstGeom>
          <a:noFill/>
          <a:ln/>
        </p:spPr>
        <p:txBody>
          <a:bodyPr wrap="square" rtlCol="0" anchor="ctr"/>
          <a:lstStyle/>
          <a:p>
            <a:pPr indent="0" marL="0">
              <a:lnSpc>
                <a:spcPct val="150000"/>
              </a:lnSpc>
              <a:buNone/>
            </a:pPr>
            <a:r>
              <a:rPr lang="en-US" sz="1400" dirty="0">
                <a:solidFill>
                  <a:srgbClr val="64748B"/>
                </a:solidFill>
                <a:latin typeface="Calibri" pitchFamily="34" charset="0"/>
                <a:ea typeface="Calibri" pitchFamily="34" charset="-122"/>
                <a:cs typeface="Calibri" pitchFamily="34" charset="-120"/>
              </a:rPr>
              <a:t>研修 × 伴走支援 × ソリューション提案で、</a:t>
            </a:r>
            <a:endParaRPr lang="en-US" sz="1400" dirty="0"/>
          </a:p>
          <a:p>
            <a:pPr indent="0" marL="0">
              <a:lnSpc>
                <a:spcPct val="150000"/>
              </a:lnSpc>
              <a:buNone/>
            </a:pPr>
            <a:r>
              <a:rPr lang="en-US" sz="1400" dirty="0">
                <a:solidFill>
                  <a:srgbClr val="64748B"/>
                </a:solidFill>
                <a:latin typeface="Calibri" pitchFamily="34" charset="0"/>
                <a:ea typeface="Calibri" pitchFamily="34" charset="-122"/>
                <a:cs typeface="Calibri" pitchFamily="34" charset="-120"/>
              </a:rPr>
              <a:t>AIが組織に根づくまでの変革プロセスを支援する。</a:t>
            </a:r>
            <a:endParaRPr lang="en-US" sz="1400" dirty="0"/>
          </a:p>
        </p:txBody>
      </p:sp>
      <p:sp>
        <p:nvSpPr>
          <p:cNvPr id="7" name="Text 5"/>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731520" y="1463040"/>
            <a:ext cx="7315200" cy="457200"/>
          </a:xfrm>
          <a:prstGeom prst="rect">
            <a:avLst/>
          </a:prstGeom>
          <a:noFill/>
          <a:ln/>
        </p:spPr>
        <p:txBody>
          <a:bodyPr wrap="square" rtlCol="0" anchor="ctr"/>
          <a:lstStyle/>
          <a:p>
            <a:pPr indent="0" marL="0">
              <a:buNone/>
            </a:pPr>
            <a:r>
              <a:rPr lang="en-US" sz="1400" b="1" spc="400" kern="0" dirty="0">
                <a:solidFill>
                  <a:srgbClr val="14B8A6"/>
                </a:solidFill>
                <a:latin typeface="Calibri" pitchFamily="34" charset="0"/>
                <a:ea typeface="Calibri" pitchFamily="34" charset="-122"/>
                <a:cs typeface="Calibri" pitchFamily="34" charset="-120"/>
              </a:rPr>
              <a:t>SECTION 01</a:t>
            </a:r>
            <a:endParaRPr lang="en-US" sz="1400" dirty="0"/>
          </a:p>
        </p:txBody>
      </p:sp>
      <p:sp>
        <p:nvSpPr>
          <p:cNvPr id="3" name="Text 1"/>
          <p:cNvSpPr/>
          <p:nvPr/>
        </p:nvSpPr>
        <p:spPr>
          <a:xfrm>
            <a:off x="731520" y="1920240"/>
            <a:ext cx="768096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AI導入で企業がつまずく</a:t>
            </a:r>
            <a:endParaRPr lang="en-US" sz="3600" dirty="0"/>
          </a:p>
          <a:p>
            <a:pPr indent="0" marL="0">
              <a:buNone/>
            </a:pPr>
            <a:r>
              <a:rPr lang="en-US" sz="3600" b="1" dirty="0">
                <a:solidFill>
                  <a:srgbClr val="FFFFFF"/>
                </a:solidFill>
                <a:latin typeface="Trebuchet MS" pitchFamily="34" charset="0"/>
                <a:ea typeface="Trebuchet MS" pitchFamily="34" charset="-122"/>
                <a:cs typeface="Trebuchet MS" pitchFamily="34" charset="-120"/>
              </a:rPr>
              <a:t>3つの壁</a:t>
            </a:r>
            <a:endParaRPr lang="en-US" sz="3600" dirty="0"/>
          </a:p>
        </p:txBody>
      </p:sp>
      <p:sp>
        <p:nvSpPr>
          <p:cNvPr id="4" name="Shape 2"/>
          <p:cNvSpPr/>
          <p:nvPr/>
        </p:nvSpPr>
        <p:spPr>
          <a:xfrm>
            <a:off x="731520" y="3108960"/>
            <a:ext cx="1097280" cy="54864"/>
          </a:xfrm>
          <a:prstGeom prst="rect">
            <a:avLst/>
          </a:prstGeom>
          <a:solidFill>
            <a:srgbClr val="0D9488"/>
          </a:solidFill>
          <a:ln/>
        </p:spPr>
      </p:sp>
      <p:sp>
        <p:nvSpPr>
          <p:cNvPr id="5" name="Text 3"/>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3" name="Shape 1"/>
          <p:cNvSpPr/>
          <p:nvPr/>
        </p:nvSpPr>
        <p:spPr>
          <a:xfrm>
            <a:off x="457200" y="457200"/>
            <a:ext cx="2606040" cy="41148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457200" y="457200"/>
            <a:ext cx="2606040" cy="54864"/>
          </a:xfrm>
          <a:prstGeom prst="rect">
            <a:avLst/>
          </a:prstGeom>
          <a:solidFill>
            <a:srgbClr val="0D9488"/>
          </a:solidFill>
          <a:ln/>
        </p:spPr>
      </p:sp>
      <p:sp>
        <p:nvSpPr>
          <p:cNvPr id="5" name="Shape 3"/>
          <p:cNvSpPr/>
          <p:nvPr/>
        </p:nvSpPr>
        <p:spPr>
          <a:xfrm>
            <a:off x="1325880" y="822960"/>
            <a:ext cx="822960" cy="822960"/>
          </a:xfrm>
          <a:prstGeom prst="ellipse">
            <a:avLst/>
          </a:prstGeom>
          <a:solidFill>
            <a:srgbClr val="F0FDFA"/>
          </a:solidFill>
          <a:ln/>
        </p:spPr>
      </p:sp>
      <p:pic>
        <p:nvPicPr>
          <p:cNvPr id="6" name="Image 0" descr="preencoded.png">    </p:cNvPr>
          <p:cNvPicPr>
            <a:picLocks noChangeAspect="1"/>
          </p:cNvPicPr>
          <p:nvPr/>
        </p:nvPicPr>
        <p:blipFill>
          <a:blip r:embed="rId1"/>
          <a:stretch>
            <a:fillRect/>
          </a:stretch>
        </p:blipFill>
        <p:spPr>
          <a:xfrm>
            <a:off x="1490472" y="987552"/>
            <a:ext cx="502920" cy="502920"/>
          </a:xfrm>
          <a:prstGeom prst="rect">
            <a:avLst/>
          </a:prstGeom>
        </p:spPr>
      </p:pic>
      <p:sp>
        <p:nvSpPr>
          <p:cNvPr id="7" name="Text 4"/>
          <p:cNvSpPr/>
          <p:nvPr/>
        </p:nvSpPr>
        <p:spPr>
          <a:xfrm>
            <a:off x="640080" y="1828800"/>
            <a:ext cx="2240280" cy="822960"/>
          </a:xfrm>
          <a:prstGeom prst="rect">
            <a:avLst/>
          </a:prstGeom>
          <a:noFill/>
          <a:ln/>
        </p:spPr>
        <p:txBody>
          <a:bodyPr wrap="square" rtlCol="0" anchor="t"/>
          <a:lstStyle/>
          <a:p>
            <a:pPr algn="ctr" indent="0" marL="0">
              <a:buNone/>
            </a:pPr>
            <a:r>
              <a:rPr lang="en-US" sz="1500" b="1" dirty="0">
                <a:solidFill>
                  <a:srgbClr val="1E293B"/>
                </a:solidFill>
                <a:latin typeface="Trebuchet MS" pitchFamily="34" charset="0"/>
                <a:ea typeface="Trebuchet MS" pitchFamily="34" charset="-122"/>
                <a:cs typeface="Trebuchet MS" pitchFamily="34" charset="-120"/>
              </a:rPr>
              <a:t>壁① 何から始めれば</a:t>
            </a:r>
            <a:endParaRPr lang="en-US" sz="1500" dirty="0"/>
          </a:p>
          <a:p>
            <a:pPr algn="ctr" indent="0" marL="0">
              <a:buNone/>
            </a:pPr>
            <a:r>
              <a:rPr lang="en-US" sz="1500" b="1" dirty="0">
                <a:solidFill>
                  <a:srgbClr val="1E293B"/>
                </a:solidFill>
                <a:latin typeface="Trebuchet MS" pitchFamily="34" charset="0"/>
                <a:ea typeface="Trebuchet MS" pitchFamily="34" charset="-122"/>
                <a:cs typeface="Trebuchet MS" pitchFamily="34" charset="-120"/>
              </a:rPr>
              <a:t>いいかわからない</a:t>
            </a:r>
            <a:endParaRPr lang="en-US" sz="1500" dirty="0"/>
          </a:p>
        </p:txBody>
      </p:sp>
      <p:sp>
        <p:nvSpPr>
          <p:cNvPr id="8" name="Text 5"/>
          <p:cNvSpPr/>
          <p:nvPr/>
        </p:nvSpPr>
        <p:spPr>
          <a:xfrm>
            <a:off x="640080" y="2697480"/>
            <a:ext cx="2240280" cy="1645920"/>
          </a:xfrm>
          <a:prstGeom prst="rect">
            <a:avLst/>
          </a:prstGeom>
          <a:noFill/>
          <a:ln/>
        </p:spPr>
        <p:txBody>
          <a:bodyPr wrap="square" rtlCol="0" anchor="t"/>
          <a:lstStyle/>
          <a:p>
            <a:pPr algn="l" indent="0" marL="0">
              <a:lnSpc>
                <a:spcPct val="140000"/>
              </a:lnSpc>
              <a:buNone/>
            </a:pPr>
            <a:r>
              <a:rPr lang="en-US" sz="1100" dirty="0">
                <a:solidFill>
                  <a:srgbClr val="64748B"/>
                </a:solidFill>
                <a:latin typeface="Calibri" pitchFamily="34" charset="0"/>
                <a:ea typeface="Calibri" pitchFamily="34" charset="-122"/>
                <a:cs typeface="Calibri" pitchFamily="34" charset="-120"/>
              </a:rPr>
              <a:t>AIツールは無数にあり、情報も溢れている。しかし「自社の業務のどこに、どう使えばいいか」を判断できる人材が社内にいない。</a:t>
            </a:r>
            <a:endParaRPr lang="en-US" sz="1100" dirty="0"/>
          </a:p>
        </p:txBody>
      </p:sp>
      <p:sp>
        <p:nvSpPr>
          <p:cNvPr id="9" name="Shape 6"/>
          <p:cNvSpPr/>
          <p:nvPr/>
        </p:nvSpPr>
        <p:spPr>
          <a:xfrm>
            <a:off x="3291840" y="457200"/>
            <a:ext cx="2606040" cy="41148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Shape 7"/>
          <p:cNvSpPr/>
          <p:nvPr/>
        </p:nvSpPr>
        <p:spPr>
          <a:xfrm>
            <a:off x="3291840" y="457200"/>
            <a:ext cx="2606040" cy="54864"/>
          </a:xfrm>
          <a:prstGeom prst="rect">
            <a:avLst/>
          </a:prstGeom>
          <a:solidFill>
            <a:srgbClr val="0D9488"/>
          </a:solidFill>
          <a:ln/>
        </p:spPr>
      </p:sp>
      <p:sp>
        <p:nvSpPr>
          <p:cNvPr id="11" name="Shape 8"/>
          <p:cNvSpPr/>
          <p:nvPr/>
        </p:nvSpPr>
        <p:spPr>
          <a:xfrm>
            <a:off x="4160520" y="822960"/>
            <a:ext cx="822960" cy="822960"/>
          </a:xfrm>
          <a:prstGeom prst="ellipse">
            <a:avLst/>
          </a:prstGeom>
          <a:solidFill>
            <a:srgbClr val="F0FDFA"/>
          </a:solidFill>
          <a:ln/>
        </p:spPr>
      </p:sp>
      <p:pic>
        <p:nvPicPr>
          <p:cNvPr id="12" name="Image 1" descr="preencoded.png">    </p:cNvPr>
          <p:cNvPicPr>
            <a:picLocks noChangeAspect="1"/>
          </p:cNvPicPr>
          <p:nvPr/>
        </p:nvPicPr>
        <p:blipFill>
          <a:blip r:embed="rId2"/>
          <a:stretch>
            <a:fillRect/>
          </a:stretch>
        </p:blipFill>
        <p:spPr>
          <a:xfrm>
            <a:off x="4325112" y="987552"/>
            <a:ext cx="502920" cy="502920"/>
          </a:xfrm>
          <a:prstGeom prst="rect">
            <a:avLst/>
          </a:prstGeom>
        </p:spPr>
      </p:pic>
      <p:sp>
        <p:nvSpPr>
          <p:cNvPr id="13" name="Text 9"/>
          <p:cNvSpPr/>
          <p:nvPr/>
        </p:nvSpPr>
        <p:spPr>
          <a:xfrm>
            <a:off x="3474720" y="1828800"/>
            <a:ext cx="2240280" cy="822960"/>
          </a:xfrm>
          <a:prstGeom prst="rect">
            <a:avLst/>
          </a:prstGeom>
          <a:noFill/>
          <a:ln/>
        </p:spPr>
        <p:txBody>
          <a:bodyPr wrap="square" rtlCol="0" anchor="t"/>
          <a:lstStyle/>
          <a:p>
            <a:pPr algn="ctr" indent="0" marL="0">
              <a:buNone/>
            </a:pPr>
            <a:r>
              <a:rPr lang="en-US" sz="1500" b="1" dirty="0">
                <a:solidFill>
                  <a:srgbClr val="1E293B"/>
                </a:solidFill>
                <a:latin typeface="Trebuchet MS" pitchFamily="34" charset="0"/>
                <a:ea typeface="Trebuchet MS" pitchFamily="34" charset="-122"/>
                <a:cs typeface="Trebuchet MS" pitchFamily="34" charset="-120"/>
              </a:rPr>
              <a:t>壁② 一部の人が使う</a:t>
            </a:r>
            <a:endParaRPr lang="en-US" sz="1500" dirty="0"/>
          </a:p>
          <a:p>
            <a:pPr algn="ctr" indent="0" marL="0">
              <a:buNone/>
            </a:pPr>
            <a:r>
              <a:rPr lang="en-US" sz="1500" b="1" dirty="0">
                <a:solidFill>
                  <a:srgbClr val="1E293B"/>
                </a:solidFill>
                <a:latin typeface="Trebuchet MS" pitchFamily="34" charset="0"/>
                <a:ea typeface="Trebuchet MS" pitchFamily="34" charset="-122"/>
                <a:cs typeface="Trebuchet MS" pitchFamily="34" charset="-120"/>
              </a:rPr>
              <a:t>だけで終わる</a:t>
            </a:r>
            <a:endParaRPr lang="en-US" sz="1500" dirty="0"/>
          </a:p>
        </p:txBody>
      </p:sp>
      <p:sp>
        <p:nvSpPr>
          <p:cNvPr id="14" name="Text 10"/>
          <p:cNvSpPr/>
          <p:nvPr/>
        </p:nvSpPr>
        <p:spPr>
          <a:xfrm>
            <a:off x="3474720" y="2697480"/>
            <a:ext cx="2240280" cy="1645920"/>
          </a:xfrm>
          <a:prstGeom prst="rect">
            <a:avLst/>
          </a:prstGeom>
          <a:noFill/>
          <a:ln/>
        </p:spPr>
        <p:txBody>
          <a:bodyPr wrap="square" rtlCol="0" anchor="t"/>
          <a:lstStyle/>
          <a:p>
            <a:pPr algn="l" indent="0" marL="0">
              <a:lnSpc>
                <a:spcPct val="140000"/>
              </a:lnSpc>
              <a:buNone/>
            </a:pPr>
            <a:r>
              <a:rPr lang="en-US" sz="1100" dirty="0">
                <a:solidFill>
                  <a:srgbClr val="64748B"/>
                </a:solidFill>
                <a:latin typeface="Calibri" pitchFamily="34" charset="0"/>
                <a:ea typeface="Calibri" pitchFamily="34" charset="-122"/>
                <a:cs typeface="Calibri" pitchFamily="34" charset="-120"/>
              </a:rPr>
              <a:t>意欲のある社員が個人的にChatGPTを使い始めるが、チームや組織全体には広がらない。大半の社員は自分の業務での使い方がわからない。</a:t>
            </a:r>
            <a:endParaRPr lang="en-US" sz="1100" dirty="0"/>
          </a:p>
        </p:txBody>
      </p:sp>
      <p:sp>
        <p:nvSpPr>
          <p:cNvPr id="15" name="Shape 11"/>
          <p:cNvSpPr/>
          <p:nvPr/>
        </p:nvSpPr>
        <p:spPr>
          <a:xfrm>
            <a:off x="6126480" y="457200"/>
            <a:ext cx="2606040" cy="41148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Shape 12"/>
          <p:cNvSpPr/>
          <p:nvPr/>
        </p:nvSpPr>
        <p:spPr>
          <a:xfrm>
            <a:off x="6126480" y="457200"/>
            <a:ext cx="2606040" cy="54864"/>
          </a:xfrm>
          <a:prstGeom prst="rect">
            <a:avLst/>
          </a:prstGeom>
          <a:solidFill>
            <a:srgbClr val="0D9488"/>
          </a:solidFill>
          <a:ln/>
        </p:spPr>
      </p:sp>
      <p:sp>
        <p:nvSpPr>
          <p:cNvPr id="17" name="Shape 13"/>
          <p:cNvSpPr/>
          <p:nvPr/>
        </p:nvSpPr>
        <p:spPr>
          <a:xfrm>
            <a:off x="6995160" y="822960"/>
            <a:ext cx="822960" cy="822960"/>
          </a:xfrm>
          <a:prstGeom prst="ellipse">
            <a:avLst/>
          </a:prstGeom>
          <a:solidFill>
            <a:srgbClr val="F0FDFA"/>
          </a:solidFill>
          <a:ln/>
        </p:spPr>
      </p:sp>
      <p:pic>
        <p:nvPicPr>
          <p:cNvPr id="18" name="Image 2" descr="preencoded.png">    </p:cNvPr>
          <p:cNvPicPr>
            <a:picLocks noChangeAspect="1"/>
          </p:cNvPicPr>
          <p:nvPr/>
        </p:nvPicPr>
        <p:blipFill>
          <a:blip r:embed="rId3"/>
          <a:stretch>
            <a:fillRect/>
          </a:stretch>
        </p:blipFill>
        <p:spPr>
          <a:xfrm>
            <a:off x="7159752" y="987552"/>
            <a:ext cx="502920" cy="502920"/>
          </a:xfrm>
          <a:prstGeom prst="rect">
            <a:avLst/>
          </a:prstGeom>
        </p:spPr>
      </p:pic>
      <p:sp>
        <p:nvSpPr>
          <p:cNvPr id="19" name="Text 14"/>
          <p:cNvSpPr/>
          <p:nvPr/>
        </p:nvSpPr>
        <p:spPr>
          <a:xfrm>
            <a:off x="6309360" y="1828800"/>
            <a:ext cx="2240280" cy="822960"/>
          </a:xfrm>
          <a:prstGeom prst="rect">
            <a:avLst/>
          </a:prstGeom>
          <a:noFill/>
          <a:ln/>
        </p:spPr>
        <p:txBody>
          <a:bodyPr wrap="square" rtlCol="0" anchor="t"/>
          <a:lstStyle/>
          <a:p>
            <a:pPr algn="ctr" indent="0" marL="0">
              <a:buNone/>
            </a:pPr>
            <a:r>
              <a:rPr lang="en-US" sz="1500" b="1" dirty="0">
                <a:solidFill>
                  <a:srgbClr val="1E293B"/>
                </a:solidFill>
                <a:latin typeface="Trebuchet MS" pitchFamily="34" charset="0"/>
                <a:ea typeface="Trebuchet MS" pitchFamily="34" charset="-122"/>
                <a:cs typeface="Trebuchet MS" pitchFamily="34" charset="-120"/>
              </a:rPr>
              <a:t>壁③ 導入しても</a:t>
            </a:r>
            <a:endParaRPr lang="en-US" sz="1500" dirty="0"/>
          </a:p>
          <a:p>
            <a:pPr algn="ctr" indent="0" marL="0">
              <a:buNone/>
            </a:pPr>
            <a:r>
              <a:rPr lang="en-US" sz="1500" b="1" dirty="0">
                <a:solidFill>
                  <a:srgbClr val="1E293B"/>
                </a:solidFill>
                <a:latin typeface="Trebuchet MS" pitchFamily="34" charset="0"/>
                <a:ea typeface="Trebuchet MS" pitchFamily="34" charset="-122"/>
                <a:cs typeface="Trebuchet MS" pitchFamily="34" charset="-120"/>
              </a:rPr>
              <a:t>定着しない</a:t>
            </a:r>
            <a:endParaRPr lang="en-US" sz="1500" dirty="0"/>
          </a:p>
        </p:txBody>
      </p:sp>
      <p:sp>
        <p:nvSpPr>
          <p:cNvPr id="20" name="Text 15"/>
          <p:cNvSpPr/>
          <p:nvPr/>
        </p:nvSpPr>
        <p:spPr>
          <a:xfrm>
            <a:off x="6309360" y="2697480"/>
            <a:ext cx="2240280" cy="1645920"/>
          </a:xfrm>
          <a:prstGeom prst="rect">
            <a:avLst/>
          </a:prstGeom>
          <a:noFill/>
          <a:ln/>
        </p:spPr>
        <p:txBody>
          <a:bodyPr wrap="square" rtlCol="0" anchor="t"/>
          <a:lstStyle/>
          <a:p>
            <a:pPr algn="l" indent="0" marL="0">
              <a:lnSpc>
                <a:spcPct val="140000"/>
              </a:lnSpc>
              <a:buNone/>
            </a:pPr>
            <a:r>
              <a:rPr lang="en-US" sz="1100" dirty="0">
                <a:solidFill>
                  <a:srgbClr val="64748B"/>
                </a:solidFill>
                <a:latin typeface="Calibri" pitchFamily="34" charset="0"/>
                <a:ea typeface="Calibri" pitchFamily="34" charset="-122"/>
                <a:cs typeface="Calibri" pitchFamily="34" charset="-120"/>
              </a:rPr>
              <a:t>研修直後は使うが、1ヶ月後には元の業務に戻る。使い続ける仕組みや、困ったときに相談できる相手がいない。</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731520" y="1463040"/>
            <a:ext cx="7315200" cy="457200"/>
          </a:xfrm>
          <a:prstGeom prst="rect">
            <a:avLst/>
          </a:prstGeom>
          <a:noFill/>
          <a:ln/>
        </p:spPr>
        <p:txBody>
          <a:bodyPr wrap="square" rtlCol="0" anchor="ctr"/>
          <a:lstStyle/>
          <a:p>
            <a:pPr indent="0" marL="0">
              <a:buNone/>
            </a:pPr>
            <a:r>
              <a:rPr lang="en-US" sz="1400" b="1" spc="400" kern="0" dirty="0">
                <a:solidFill>
                  <a:srgbClr val="14B8A6"/>
                </a:solidFill>
                <a:latin typeface="Calibri" pitchFamily="34" charset="0"/>
                <a:ea typeface="Calibri" pitchFamily="34" charset="-122"/>
                <a:cs typeface="Calibri" pitchFamily="34" charset="-120"/>
              </a:rPr>
              <a:t>SECTION 02</a:t>
            </a:r>
            <a:endParaRPr lang="en-US" sz="1400" dirty="0"/>
          </a:p>
        </p:txBody>
      </p:sp>
      <p:sp>
        <p:nvSpPr>
          <p:cNvPr id="3" name="Text 1"/>
          <p:cNvSpPr/>
          <p:nvPr/>
        </p:nvSpPr>
        <p:spPr>
          <a:xfrm>
            <a:off x="731520" y="1920240"/>
            <a:ext cx="768096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POST CABINETSのアプローチ</a:t>
            </a:r>
            <a:endParaRPr lang="en-US" sz="3600" dirty="0"/>
          </a:p>
        </p:txBody>
      </p:sp>
      <p:sp>
        <p:nvSpPr>
          <p:cNvPr id="4" name="Shape 2"/>
          <p:cNvSpPr/>
          <p:nvPr/>
        </p:nvSpPr>
        <p:spPr>
          <a:xfrm>
            <a:off x="731520" y="3108960"/>
            <a:ext cx="1097280" cy="54864"/>
          </a:xfrm>
          <a:prstGeom prst="rect">
            <a:avLst/>
          </a:prstGeom>
          <a:solidFill>
            <a:srgbClr val="0D9488"/>
          </a:solidFill>
          <a:ln/>
        </p:spPr>
      </p:sp>
      <p:sp>
        <p:nvSpPr>
          <p:cNvPr id="5" name="Text 3"/>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3段階で組織を変える</a:t>
            </a:r>
            <a:endParaRPr lang="en-US" sz="2400" dirty="0"/>
          </a:p>
        </p:txBody>
      </p:sp>
      <p:sp>
        <p:nvSpPr>
          <p:cNvPr id="4" name="Text 2"/>
          <p:cNvSpPr/>
          <p:nvPr/>
        </p:nvSpPr>
        <p:spPr>
          <a:xfrm>
            <a:off x="457200" y="822960"/>
            <a:ext cx="82296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個人 → チーム → 組織。AIが業務に根づくまでの変革プロセスを伴走する。</a:t>
            </a:r>
            <a:endParaRPr lang="en-US" sz="1200" dirty="0"/>
          </a:p>
        </p:txBody>
      </p:sp>
      <p:sp>
        <p:nvSpPr>
          <p:cNvPr id="5" name="Shape 3"/>
          <p:cNvSpPr/>
          <p:nvPr/>
        </p:nvSpPr>
        <p:spPr>
          <a:xfrm>
            <a:off x="320040" y="1463040"/>
            <a:ext cx="2651760" cy="32004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320040" y="1463040"/>
            <a:ext cx="2651760" cy="502920"/>
          </a:xfrm>
          <a:prstGeom prst="rect">
            <a:avLst/>
          </a:prstGeom>
          <a:solidFill>
            <a:srgbClr val="0D9488"/>
          </a:solidFill>
          <a:ln/>
        </p:spPr>
      </p:sp>
      <p:sp>
        <p:nvSpPr>
          <p:cNvPr id="7" name="Text 5"/>
          <p:cNvSpPr/>
          <p:nvPr/>
        </p:nvSpPr>
        <p:spPr>
          <a:xfrm>
            <a:off x="320040" y="1463040"/>
            <a:ext cx="265176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1</a:t>
            </a:r>
            <a:endParaRPr lang="en-US" sz="1300" dirty="0"/>
          </a:p>
        </p:txBody>
      </p:sp>
      <p:pic>
        <p:nvPicPr>
          <p:cNvPr id="8" name="Image 0" descr="preencoded.png">    </p:cNvPr>
          <p:cNvPicPr>
            <a:picLocks noChangeAspect="1"/>
          </p:cNvPicPr>
          <p:nvPr/>
        </p:nvPicPr>
        <p:blipFill>
          <a:blip r:embed="rId1"/>
          <a:stretch>
            <a:fillRect/>
          </a:stretch>
        </p:blipFill>
        <p:spPr>
          <a:xfrm>
            <a:off x="1325880" y="2148840"/>
            <a:ext cx="548640" cy="548640"/>
          </a:xfrm>
          <a:prstGeom prst="rect">
            <a:avLst/>
          </a:prstGeom>
        </p:spPr>
      </p:pic>
      <p:sp>
        <p:nvSpPr>
          <p:cNvPr id="9" name="Text 6"/>
          <p:cNvSpPr/>
          <p:nvPr/>
        </p:nvSpPr>
        <p:spPr>
          <a:xfrm>
            <a:off x="457200" y="2788920"/>
            <a:ext cx="2377440" cy="411480"/>
          </a:xfrm>
          <a:prstGeom prst="rect">
            <a:avLst/>
          </a:prstGeom>
          <a:noFill/>
          <a:ln/>
        </p:spPr>
        <p:txBody>
          <a:bodyPr wrap="square" rtlCol="0" anchor="ctr"/>
          <a:lstStyle/>
          <a:p>
            <a:pPr algn="ctr" indent="0" marL="0">
              <a:buNone/>
            </a:pPr>
            <a:r>
              <a:rPr lang="en-US" sz="1500" b="1" dirty="0">
                <a:solidFill>
                  <a:srgbClr val="1E293B"/>
                </a:solidFill>
                <a:latin typeface="Trebuchet MS" pitchFamily="34" charset="0"/>
                <a:ea typeface="Trebuchet MS" pitchFamily="34" charset="-122"/>
                <a:cs typeface="Trebuchet MS" pitchFamily="34" charset="-120"/>
              </a:rPr>
              <a:t>個人のAI活用</a:t>
            </a:r>
            <a:endParaRPr lang="en-US" sz="1500" dirty="0"/>
          </a:p>
        </p:txBody>
      </p:sp>
      <p:sp>
        <p:nvSpPr>
          <p:cNvPr id="10" name="Text 7"/>
          <p:cNvSpPr/>
          <p:nvPr/>
        </p:nvSpPr>
        <p:spPr>
          <a:xfrm>
            <a:off x="457200" y="3200400"/>
            <a:ext cx="2377440" cy="32004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研修で土台を作る</a:t>
            </a:r>
            <a:endParaRPr lang="en-US" sz="1100" dirty="0"/>
          </a:p>
        </p:txBody>
      </p:sp>
      <p:sp>
        <p:nvSpPr>
          <p:cNvPr id="11" name="Shape 8"/>
          <p:cNvSpPr/>
          <p:nvPr/>
        </p:nvSpPr>
        <p:spPr>
          <a:xfrm>
            <a:off x="594360" y="3703320"/>
            <a:ext cx="2103120" cy="365760"/>
          </a:xfrm>
          <a:prstGeom prst="rect">
            <a:avLst/>
          </a:prstGeom>
          <a:solidFill>
            <a:srgbClr val="F0FDFA"/>
          </a:solidFill>
          <a:ln/>
        </p:spPr>
      </p:sp>
      <p:sp>
        <p:nvSpPr>
          <p:cNvPr id="12" name="Text 9"/>
          <p:cNvSpPr/>
          <p:nvPr/>
        </p:nvSpPr>
        <p:spPr>
          <a:xfrm>
            <a:off x="594360" y="3703320"/>
            <a:ext cx="2103120" cy="36576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AI研修</a:t>
            </a:r>
            <a:endParaRPr lang="en-US" sz="1000" dirty="0"/>
          </a:p>
        </p:txBody>
      </p:sp>
      <p:sp>
        <p:nvSpPr>
          <p:cNvPr id="13" name="Text 10"/>
          <p:cNvSpPr/>
          <p:nvPr/>
        </p:nvSpPr>
        <p:spPr>
          <a:xfrm>
            <a:off x="457200" y="4206240"/>
            <a:ext cx="237744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1〜3ヶ月</a:t>
            </a:r>
            <a:endParaRPr lang="en-US" sz="1000" dirty="0"/>
          </a:p>
        </p:txBody>
      </p:sp>
      <p:pic>
        <p:nvPicPr>
          <p:cNvPr id="14" name="Image 1" descr="preencoded.png">    </p:cNvPr>
          <p:cNvPicPr>
            <a:picLocks noChangeAspect="1"/>
          </p:cNvPicPr>
          <p:nvPr/>
        </p:nvPicPr>
        <p:blipFill>
          <a:blip r:embed="rId2"/>
          <a:stretch>
            <a:fillRect/>
          </a:stretch>
        </p:blipFill>
        <p:spPr>
          <a:xfrm>
            <a:off x="3063240" y="2743200"/>
            <a:ext cx="274320" cy="274320"/>
          </a:xfrm>
          <a:prstGeom prst="rect">
            <a:avLst/>
          </a:prstGeom>
        </p:spPr>
      </p:pic>
      <p:sp>
        <p:nvSpPr>
          <p:cNvPr id="15" name="Shape 11"/>
          <p:cNvSpPr/>
          <p:nvPr/>
        </p:nvSpPr>
        <p:spPr>
          <a:xfrm>
            <a:off x="3246120" y="1463040"/>
            <a:ext cx="2651760" cy="32004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Shape 12"/>
          <p:cNvSpPr/>
          <p:nvPr/>
        </p:nvSpPr>
        <p:spPr>
          <a:xfrm>
            <a:off x="3246120" y="1463040"/>
            <a:ext cx="2651760" cy="502920"/>
          </a:xfrm>
          <a:prstGeom prst="rect">
            <a:avLst/>
          </a:prstGeom>
          <a:solidFill>
            <a:srgbClr val="0D9488"/>
          </a:solidFill>
          <a:ln/>
        </p:spPr>
      </p:sp>
      <p:sp>
        <p:nvSpPr>
          <p:cNvPr id="17" name="Text 13"/>
          <p:cNvSpPr/>
          <p:nvPr/>
        </p:nvSpPr>
        <p:spPr>
          <a:xfrm>
            <a:off x="3246120" y="1463040"/>
            <a:ext cx="265176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2</a:t>
            </a:r>
            <a:endParaRPr lang="en-US" sz="1300" dirty="0"/>
          </a:p>
        </p:txBody>
      </p:sp>
      <p:pic>
        <p:nvPicPr>
          <p:cNvPr id="18" name="Image 2" descr="preencoded.png">    </p:cNvPr>
          <p:cNvPicPr>
            <a:picLocks noChangeAspect="1"/>
          </p:cNvPicPr>
          <p:nvPr/>
        </p:nvPicPr>
        <p:blipFill>
          <a:blip r:embed="rId3"/>
          <a:stretch>
            <a:fillRect/>
          </a:stretch>
        </p:blipFill>
        <p:spPr>
          <a:xfrm>
            <a:off x="4251960" y="2148840"/>
            <a:ext cx="548640" cy="548640"/>
          </a:xfrm>
          <a:prstGeom prst="rect">
            <a:avLst/>
          </a:prstGeom>
        </p:spPr>
      </p:pic>
      <p:sp>
        <p:nvSpPr>
          <p:cNvPr id="19" name="Text 14"/>
          <p:cNvSpPr/>
          <p:nvPr/>
        </p:nvSpPr>
        <p:spPr>
          <a:xfrm>
            <a:off x="3383280" y="2788920"/>
            <a:ext cx="2377440" cy="411480"/>
          </a:xfrm>
          <a:prstGeom prst="rect">
            <a:avLst/>
          </a:prstGeom>
          <a:noFill/>
          <a:ln/>
        </p:spPr>
        <p:txBody>
          <a:bodyPr wrap="square" rtlCol="0" anchor="ctr"/>
          <a:lstStyle/>
          <a:p>
            <a:pPr algn="ctr" indent="0" marL="0">
              <a:buNone/>
            </a:pPr>
            <a:r>
              <a:rPr lang="en-US" sz="1500" b="1" dirty="0">
                <a:solidFill>
                  <a:srgbClr val="1E293B"/>
                </a:solidFill>
                <a:latin typeface="Trebuchet MS" pitchFamily="34" charset="0"/>
                <a:ea typeface="Trebuchet MS" pitchFamily="34" charset="-122"/>
                <a:cs typeface="Trebuchet MS" pitchFamily="34" charset="-120"/>
              </a:rPr>
              <a:t>チームの業務自動化</a:t>
            </a:r>
            <a:endParaRPr lang="en-US" sz="1500" dirty="0"/>
          </a:p>
        </p:txBody>
      </p:sp>
      <p:sp>
        <p:nvSpPr>
          <p:cNvPr id="20" name="Text 15"/>
          <p:cNvSpPr/>
          <p:nvPr/>
        </p:nvSpPr>
        <p:spPr>
          <a:xfrm>
            <a:off x="3383280" y="3200400"/>
            <a:ext cx="2377440" cy="32004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伴走で実装する</a:t>
            </a:r>
            <a:endParaRPr lang="en-US" sz="1100" dirty="0"/>
          </a:p>
        </p:txBody>
      </p:sp>
      <p:sp>
        <p:nvSpPr>
          <p:cNvPr id="21" name="Shape 16"/>
          <p:cNvSpPr/>
          <p:nvPr/>
        </p:nvSpPr>
        <p:spPr>
          <a:xfrm>
            <a:off x="3520440" y="3703320"/>
            <a:ext cx="2103120" cy="365760"/>
          </a:xfrm>
          <a:prstGeom prst="rect">
            <a:avLst/>
          </a:prstGeom>
          <a:solidFill>
            <a:srgbClr val="F0FDFA"/>
          </a:solidFill>
          <a:ln/>
        </p:spPr>
      </p:sp>
      <p:sp>
        <p:nvSpPr>
          <p:cNvPr id="22" name="Text 17"/>
          <p:cNvSpPr/>
          <p:nvPr/>
        </p:nvSpPr>
        <p:spPr>
          <a:xfrm>
            <a:off x="3520440" y="3703320"/>
            <a:ext cx="2103120" cy="36576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伴走支援（月額）</a:t>
            </a:r>
            <a:endParaRPr lang="en-US" sz="1000" dirty="0"/>
          </a:p>
        </p:txBody>
      </p:sp>
      <p:sp>
        <p:nvSpPr>
          <p:cNvPr id="23" name="Text 18"/>
          <p:cNvSpPr/>
          <p:nvPr/>
        </p:nvSpPr>
        <p:spPr>
          <a:xfrm>
            <a:off x="3383280" y="4206240"/>
            <a:ext cx="237744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3〜6ヶ月</a:t>
            </a:r>
            <a:endParaRPr lang="en-US" sz="1000" dirty="0"/>
          </a:p>
        </p:txBody>
      </p:sp>
      <p:pic>
        <p:nvPicPr>
          <p:cNvPr id="24" name="Image 3" descr="preencoded.png">    </p:cNvPr>
          <p:cNvPicPr>
            <a:picLocks noChangeAspect="1"/>
          </p:cNvPicPr>
          <p:nvPr/>
        </p:nvPicPr>
        <p:blipFill>
          <a:blip r:embed="rId4"/>
          <a:stretch>
            <a:fillRect/>
          </a:stretch>
        </p:blipFill>
        <p:spPr>
          <a:xfrm>
            <a:off x="5989320" y="2743200"/>
            <a:ext cx="274320" cy="274320"/>
          </a:xfrm>
          <a:prstGeom prst="rect">
            <a:avLst/>
          </a:prstGeom>
        </p:spPr>
      </p:pic>
      <p:sp>
        <p:nvSpPr>
          <p:cNvPr id="25" name="Shape 19"/>
          <p:cNvSpPr/>
          <p:nvPr/>
        </p:nvSpPr>
        <p:spPr>
          <a:xfrm>
            <a:off x="6172200" y="1463040"/>
            <a:ext cx="2651760" cy="32004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6" name="Shape 20"/>
          <p:cNvSpPr/>
          <p:nvPr/>
        </p:nvSpPr>
        <p:spPr>
          <a:xfrm>
            <a:off x="6172200" y="1463040"/>
            <a:ext cx="2651760" cy="502920"/>
          </a:xfrm>
          <a:prstGeom prst="rect">
            <a:avLst/>
          </a:prstGeom>
          <a:solidFill>
            <a:srgbClr val="0D9488"/>
          </a:solidFill>
          <a:ln/>
        </p:spPr>
      </p:sp>
      <p:sp>
        <p:nvSpPr>
          <p:cNvPr id="27" name="Text 21"/>
          <p:cNvSpPr/>
          <p:nvPr/>
        </p:nvSpPr>
        <p:spPr>
          <a:xfrm>
            <a:off x="6172200" y="1463040"/>
            <a:ext cx="265176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3</a:t>
            </a:r>
            <a:endParaRPr lang="en-US" sz="1300" dirty="0"/>
          </a:p>
        </p:txBody>
      </p:sp>
      <p:pic>
        <p:nvPicPr>
          <p:cNvPr id="28" name="Image 4" descr="preencoded.png">    </p:cNvPr>
          <p:cNvPicPr>
            <a:picLocks noChangeAspect="1"/>
          </p:cNvPicPr>
          <p:nvPr/>
        </p:nvPicPr>
        <p:blipFill>
          <a:blip r:embed="rId5"/>
          <a:stretch>
            <a:fillRect/>
          </a:stretch>
        </p:blipFill>
        <p:spPr>
          <a:xfrm>
            <a:off x="7178040" y="2148840"/>
            <a:ext cx="548640" cy="548640"/>
          </a:xfrm>
          <a:prstGeom prst="rect">
            <a:avLst/>
          </a:prstGeom>
        </p:spPr>
      </p:pic>
      <p:sp>
        <p:nvSpPr>
          <p:cNvPr id="29" name="Text 22"/>
          <p:cNvSpPr/>
          <p:nvPr/>
        </p:nvSpPr>
        <p:spPr>
          <a:xfrm>
            <a:off x="6309360" y="2788920"/>
            <a:ext cx="2377440" cy="411480"/>
          </a:xfrm>
          <a:prstGeom prst="rect">
            <a:avLst/>
          </a:prstGeom>
          <a:noFill/>
          <a:ln/>
        </p:spPr>
        <p:txBody>
          <a:bodyPr wrap="square" rtlCol="0" anchor="ctr"/>
          <a:lstStyle/>
          <a:p>
            <a:pPr algn="ctr" indent="0" marL="0">
              <a:buNone/>
            </a:pPr>
            <a:r>
              <a:rPr lang="en-US" sz="1500" b="1" dirty="0">
                <a:solidFill>
                  <a:srgbClr val="1E293B"/>
                </a:solidFill>
                <a:latin typeface="Trebuchet MS" pitchFamily="34" charset="0"/>
                <a:ea typeface="Trebuchet MS" pitchFamily="34" charset="-122"/>
                <a:cs typeface="Trebuchet MS" pitchFamily="34" charset="-120"/>
              </a:rPr>
              <a:t>全社のAI組織化</a:t>
            </a:r>
            <a:endParaRPr lang="en-US" sz="1500" dirty="0"/>
          </a:p>
        </p:txBody>
      </p:sp>
      <p:sp>
        <p:nvSpPr>
          <p:cNvPr id="30" name="Text 23"/>
          <p:cNvSpPr/>
          <p:nvPr/>
        </p:nvSpPr>
        <p:spPr>
          <a:xfrm>
            <a:off x="6309360" y="3200400"/>
            <a:ext cx="2377440" cy="32004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仕組みで定着させる</a:t>
            </a:r>
            <a:endParaRPr lang="en-US" sz="1100" dirty="0"/>
          </a:p>
        </p:txBody>
      </p:sp>
      <p:sp>
        <p:nvSpPr>
          <p:cNvPr id="31" name="Shape 24"/>
          <p:cNvSpPr/>
          <p:nvPr/>
        </p:nvSpPr>
        <p:spPr>
          <a:xfrm>
            <a:off x="6446520" y="3703320"/>
            <a:ext cx="2103120" cy="365760"/>
          </a:xfrm>
          <a:prstGeom prst="rect">
            <a:avLst/>
          </a:prstGeom>
          <a:solidFill>
            <a:srgbClr val="F0FDFA"/>
          </a:solidFill>
          <a:ln/>
        </p:spPr>
      </p:sp>
      <p:sp>
        <p:nvSpPr>
          <p:cNvPr id="32" name="Text 25"/>
          <p:cNvSpPr/>
          <p:nvPr/>
        </p:nvSpPr>
        <p:spPr>
          <a:xfrm>
            <a:off x="6446520" y="3703320"/>
            <a:ext cx="2103120" cy="36576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戦略策定・体制構築</a:t>
            </a:r>
            <a:endParaRPr lang="en-US" sz="1000" dirty="0"/>
          </a:p>
        </p:txBody>
      </p:sp>
      <p:sp>
        <p:nvSpPr>
          <p:cNvPr id="33" name="Text 26"/>
          <p:cNvSpPr/>
          <p:nvPr/>
        </p:nvSpPr>
        <p:spPr>
          <a:xfrm>
            <a:off x="6309360" y="4206240"/>
            <a:ext cx="237744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企業に応じて</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AI活用ツールの考え方</a:t>
            </a:r>
            <a:endParaRPr lang="en-US" sz="2400" dirty="0"/>
          </a:p>
        </p:txBody>
      </p:sp>
      <p:sp>
        <p:nvSpPr>
          <p:cNvPr id="4" name="Shape 2"/>
          <p:cNvSpPr/>
          <p:nvPr/>
        </p:nvSpPr>
        <p:spPr>
          <a:xfrm>
            <a:off x="457200" y="1005840"/>
            <a:ext cx="8229600" cy="1097280"/>
          </a:xfrm>
          <a:prstGeom prst="rect">
            <a:avLst/>
          </a:prstGeom>
          <a:solidFill>
            <a:srgbClr val="F0FDFA"/>
          </a:solidFill>
          <a:ln/>
        </p:spPr>
      </p:sp>
      <p:sp>
        <p:nvSpPr>
          <p:cNvPr id="5" name="Shape 3"/>
          <p:cNvSpPr/>
          <p:nvPr/>
        </p:nvSpPr>
        <p:spPr>
          <a:xfrm>
            <a:off x="457200" y="1005840"/>
            <a:ext cx="73152" cy="1097280"/>
          </a:xfrm>
          <a:prstGeom prst="rect">
            <a:avLst/>
          </a:prstGeom>
          <a:solidFill>
            <a:srgbClr val="0D9488"/>
          </a:solidFill>
          <a:ln/>
        </p:spPr>
      </p:sp>
      <p:sp>
        <p:nvSpPr>
          <p:cNvPr id="6" name="Text 4"/>
          <p:cNvSpPr/>
          <p:nvPr/>
        </p:nvSpPr>
        <p:spPr>
          <a:xfrm>
            <a:off x="777240" y="1005840"/>
            <a:ext cx="7680960" cy="1097280"/>
          </a:xfrm>
          <a:prstGeom prst="rect">
            <a:avLst/>
          </a:prstGeom>
          <a:noFill/>
          <a:ln/>
        </p:spPr>
        <p:txBody>
          <a:bodyPr wrap="square" rtlCol="0" anchor="ctr"/>
          <a:lstStyle/>
          <a:p>
            <a:pPr indent="0" marL="0">
              <a:lnSpc>
                <a:spcPct val="140000"/>
              </a:lnSpc>
              <a:buNone/>
            </a:pPr>
            <a:r>
              <a:rPr lang="en-US" sz="1500" b="1" dirty="0">
                <a:solidFill>
                  <a:srgbClr val="1E293B"/>
                </a:solidFill>
                <a:latin typeface="Calibri" pitchFamily="34" charset="0"/>
                <a:ea typeface="Calibri" pitchFamily="34" charset="-122"/>
                <a:cs typeface="Calibri" pitchFamily="34" charset="-120"/>
              </a:rPr>
              <a:t>特定のツールを強制しない。クライアント企業の環境に合った最適なAI活用を提案する。</a:t>
            </a:r>
            <a:endParaRPr lang="en-US" sz="1500" dirty="0"/>
          </a:p>
        </p:txBody>
      </p:sp>
      <p:sp>
        <p:nvSpPr>
          <p:cNvPr id="7" name="Shape 5"/>
          <p:cNvSpPr/>
          <p:nvPr/>
        </p:nvSpPr>
        <p:spPr>
          <a:xfrm>
            <a:off x="457200" y="2468880"/>
            <a:ext cx="187452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8" name="Text 6"/>
          <p:cNvSpPr/>
          <p:nvPr/>
        </p:nvSpPr>
        <p:spPr>
          <a:xfrm>
            <a:off x="457200" y="2468880"/>
            <a:ext cx="1874520" cy="54864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ChatGPT</a:t>
            </a:r>
            <a:endParaRPr lang="en-US" sz="1200" dirty="0"/>
          </a:p>
        </p:txBody>
      </p:sp>
      <p:sp>
        <p:nvSpPr>
          <p:cNvPr id="9" name="Shape 7"/>
          <p:cNvSpPr/>
          <p:nvPr/>
        </p:nvSpPr>
        <p:spPr>
          <a:xfrm>
            <a:off x="2560320" y="2468880"/>
            <a:ext cx="187452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2560320" y="2468880"/>
            <a:ext cx="1874520" cy="54864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Claude</a:t>
            </a:r>
            <a:endParaRPr lang="en-US" sz="1200" dirty="0"/>
          </a:p>
        </p:txBody>
      </p:sp>
      <p:sp>
        <p:nvSpPr>
          <p:cNvPr id="11" name="Shape 9"/>
          <p:cNvSpPr/>
          <p:nvPr/>
        </p:nvSpPr>
        <p:spPr>
          <a:xfrm>
            <a:off x="4663440" y="2468880"/>
            <a:ext cx="187452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2" name="Text 10"/>
          <p:cNvSpPr/>
          <p:nvPr/>
        </p:nvSpPr>
        <p:spPr>
          <a:xfrm>
            <a:off x="4663440" y="2468880"/>
            <a:ext cx="1874520" cy="54864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Claude Code</a:t>
            </a:r>
            <a:endParaRPr lang="en-US" sz="1200" dirty="0"/>
          </a:p>
        </p:txBody>
      </p:sp>
      <p:sp>
        <p:nvSpPr>
          <p:cNvPr id="13" name="Shape 11"/>
          <p:cNvSpPr/>
          <p:nvPr/>
        </p:nvSpPr>
        <p:spPr>
          <a:xfrm>
            <a:off x="6766560" y="2468880"/>
            <a:ext cx="187452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Text 12"/>
          <p:cNvSpPr/>
          <p:nvPr/>
        </p:nvSpPr>
        <p:spPr>
          <a:xfrm>
            <a:off x="6766560" y="2468880"/>
            <a:ext cx="1874520" cy="54864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Cursor</a:t>
            </a:r>
            <a:endParaRPr lang="en-US" sz="1200" dirty="0"/>
          </a:p>
        </p:txBody>
      </p:sp>
      <p:sp>
        <p:nvSpPr>
          <p:cNvPr id="15" name="Shape 13"/>
          <p:cNvSpPr/>
          <p:nvPr/>
        </p:nvSpPr>
        <p:spPr>
          <a:xfrm>
            <a:off x="457200" y="3200400"/>
            <a:ext cx="187452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Text 14"/>
          <p:cNvSpPr/>
          <p:nvPr/>
        </p:nvSpPr>
        <p:spPr>
          <a:xfrm>
            <a:off x="457200" y="3200400"/>
            <a:ext cx="1874520" cy="54864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Notion AI</a:t>
            </a:r>
            <a:endParaRPr lang="en-US" sz="1200" dirty="0"/>
          </a:p>
        </p:txBody>
      </p:sp>
      <p:sp>
        <p:nvSpPr>
          <p:cNvPr id="17" name="Shape 15"/>
          <p:cNvSpPr/>
          <p:nvPr/>
        </p:nvSpPr>
        <p:spPr>
          <a:xfrm>
            <a:off x="2560320" y="3200400"/>
            <a:ext cx="187452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8" name="Text 16"/>
          <p:cNvSpPr/>
          <p:nvPr/>
        </p:nvSpPr>
        <p:spPr>
          <a:xfrm>
            <a:off x="2560320" y="3200400"/>
            <a:ext cx="1874520" cy="54864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OpenClaw</a:t>
            </a:r>
            <a:endParaRPr lang="en-US" sz="1200" dirty="0"/>
          </a:p>
        </p:txBody>
      </p:sp>
      <p:sp>
        <p:nvSpPr>
          <p:cNvPr id="19" name="Shape 17"/>
          <p:cNvSpPr/>
          <p:nvPr/>
        </p:nvSpPr>
        <p:spPr>
          <a:xfrm>
            <a:off x="4663440" y="3200400"/>
            <a:ext cx="187452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0" name="Text 18"/>
          <p:cNvSpPr/>
          <p:nvPr/>
        </p:nvSpPr>
        <p:spPr>
          <a:xfrm>
            <a:off x="4663440" y="3200400"/>
            <a:ext cx="1874520" cy="54864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Microsoft Copilot</a:t>
            </a:r>
            <a:endParaRPr lang="en-US" sz="1200" dirty="0"/>
          </a:p>
        </p:txBody>
      </p:sp>
      <p:sp>
        <p:nvSpPr>
          <p:cNvPr id="21" name="Shape 19"/>
          <p:cNvSpPr/>
          <p:nvPr/>
        </p:nvSpPr>
        <p:spPr>
          <a:xfrm>
            <a:off x="6766560" y="3200400"/>
            <a:ext cx="187452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2" name="Text 20"/>
          <p:cNvSpPr/>
          <p:nvPr/>
        </p:nvSpPr>
        <p:spPr>
          <a:xfrm>
            <a:off x="6766560" y="3200400"/>
            <a:ext cx="1874520" cy="54864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Gemini</a:t>
            </a:r>
            <a:endParaRPr lang="en-US" sz="1200" dirty="0"/>
          </a:p>
        </p:txBody>
      </p:sp>
      <p:pic>
        <p:nvPicPr>
          <p:cNvPr id="23" name="Image 0" descr="preencoded.png">    </p:cNvPr>
          <p:cNvPicPr>
            <a:picLocks noChangeAspect="1"/>
          </p:cNvPicPr>
          <p:nvPr/>
        </p:nvPicPr>
        <p:blipFill>
          <a:blip r:embed="rId1"/>
          <a:stretch>
            <a:fillRect/>
          </a:stretch>
        </p:blipFill>
        <p:spPr>
          <a:xfrm>
            <a:off x="457200" y="4160520"/>
            <a:ext cx="320040" cy="320040"/>
          </a:xfrm>
          <a:prstGeom prst="rect">
            <a:avLst/>
          </a:prstGeom>
        </p:spPr>
      </p:pic>
      <p:sp>
        <p:nvSpPr>
          <p:cNvPr id="24" name="Text 21"/>
          <p:cNvSpPr/>
          <p:nvPr/>
        </p:nvSpPr>
        <p:spPr>
          <a:xfrm>
            <a:off x="914400" y="4114800"/>
            <a:ext cx="7315200" cy="411480"/>
          </a:xfrm>
          <a:prstGeom prst="rect">
            <a:avLst/>
          </a:prstGeom>
          <a:noFill/>
          <a:ln/>
        </p:spPr>
        <p:txBody>
          <a:bodyPr wrap="square"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大切なのはツールではなく、「AIをどう業務に組み込むか」という設計力。</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731520" y="1463040"/>
            <a:ext cx="7315200" cy="457200"/>
          </a:xfrm>
          <a:prstGeom prst="rect">
            <a:avLst/>
          </a:prstGeom>
          <a:noFill/>
          <a:ln/>
        </p:spPr>
        <p:txBody>
          <a:bodyPr wrap="square" rtlCol="0" anchor="ctr"/>
          <a:lstStyle/>
          <a:p>
            <a:pPr indent="0" marL="0">
              <a:buNone/>
            </a:pPr>
            <a:r>
              <a:rPr lang="en-US" sz="1400" b="1" spc="400" kern="0" dirty="0">
                <a:solidFill>
                  <a:srgbClr val="14B8A6"/>
                </a:solidFill>
                <a:latin typeface="Calibri" pitchFamily="34" charset="0"/>
                <a:ea typeface="Calibri" pitchFamily="34" charset="-122"/>
                <a:cs typeface="Calibri" pitchFamily="34" charset="-120"/>
              </a:rPr>
              <a:t>SECTION 03</a:t>
            </a:r>
            <a:endParaRPr lang="en-US" sz="1400" dirty="0"/>
          </a:p>
        </p:txBody>
      </p:sp>
      <p:sp>
        <p:nvSpPr>
          <p:cNvPr id="3" name="Text 1"/>
          <p:cNvSpPr/>
          <p:nvPr/>
        </p:nvSpPr>
        <p:spPr>
          <a:xfrm>
            <a:off x="731520" y="1920240"/>
            <a:ext cx="768096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PHASE 1</a:t>
            </a:r>
            <a:endParaRPr lang="en-US" sz="3600" dirty="0"/>
          </a:p>
          <a:p>
            <a:pPr indent="0" marL="0">
              <a:buNone/>
            </a:pPr>
            <a:r>
              <a:rPr lang="en-US" sz="3600" b="1" dirty="0">
                <a:solidFill>
                  <a:srgbClr val="FFFFFF"/>
                </a:solidFill>
                <a:latin typeface="Trebuchet MS" pitchFamily="34" charset="0"/>
                <a:ea typeface="Trebuchet MS" pitchFamily="34" charset="-122"/>
                <a:cs typeface="Trebuchet MS" pitchFamily="34" charset="-120"/>
              </a:rPr>
              <a:t>個人のAI活用（AI研修）</a:t>
            </a:r>
            <a:endParaRPr lang="en-US" sz="3600" dirty="0"/>
          </a:p>
        </p:txBody>
      </p:sp>
      <p:sp>
        <p:nvSpPr>
          <p:cNvPr id="4" name="Shape 2"/>
          <p:cNvSpPr/>
          <p:nvPr/>
        </p:nvSpPr>
        <p:spPr>
          <a:xfrm>
            <a:off x="731520" y="3108960"/>
            <a:ext cx="1097280" cy="54864"/>
          </a:xfrm>
          <a:prstGeom prst="rect">
            <a:avLst/>
          </a:prstGeom>
          <a:solidFill>
            <a:srgbClr val="0D9488"/>
          </a:solidFill>
          <a:ln/>
        </p:spPr>
      </p:sp>
      <p:sp>
        <p:nvSpPr>
          <p:cNvPr id="5" name="Text 3"/>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3つの研修メニュー</a:t>
            </a:r>
            <a:endParaRPr lang="en-US" sz="2400" dirty="0"/>
          </a:p>
        </p:txBody>
      </p:sp>
      <p:sp>
        <p:nvSpPr>
          <p:cNvPr id="4" name="Text 2"/>
          <p:cNvSpPr/>
          <p:nvPr/>
        </p:nvSpPr>
        <p:spPr>
          <a:xfrm>
            <a:off x="457200" y="777240"/>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目的・予算・スケジュールに合わせて選択できる。</a:t>
            </a:r>
            <a:endParaRPr lang="en-US" sz="1200" dirty="0"/>
          </a:p>
        </p:txBody>
      </p:sp>
      <p:sp>
        <p:nvSpPr>
          <p:cNvPr id="5" name="Shape 3"/>
          <p:cNvSpPr/>
          <p:nvPr/>
        </p:nvSpPr>
        <p:spPr>
          <a:xfrm>
            <a:off x="320040" y="1280160"/>
            <a:ext cx="2651760" cy="33832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1280160" y="1508760"/>
            <a:ext cx="731520" cy="731520"/>
          </a:xfrm>
          <a:prstGeom prst="ellipse">
            <a:avLst/>
          </a:prstGeom>
          <a:solidFill>
            <a:srgbClr val="0D9488"/>
          </a:solidFill>
          <a:ln/>
        </p:spPr>
      </p:sp>
      <p:sp>
        <p:nvSpPr>
          <p:cNvPr id="7" name="Text 5"/>
          <p:cNvSpPr/>
          <p:nvPr/>
        </p:nvSpPr>
        <p:spPr>
          <a:xfrm>
            <a:off x="1280160" y="1508760"/>
            <a:ext cx="731520" cy="731520"/>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A</a:t>
            </a:r>
            <a:endParaRPr lang="en-US" sz="2200" dirty="0"/>
          </a:p>
        </p:txBody>
      </p:sp>
      <p:sp>
        <p:nvSpPr>
          <p:cNvPr id="8" name="Text 6"/>
          <p:cNvSpPr/>
          <p:nvPr/>
        </p:nvSpPr>
        <p:spPr>
          <a:xfrm>
            <a:off x="457200" y="2377440"/>
            <a:ext cx="2377440" cy="411480"/>
          </a:xfrm>
          <a:prstGeom prst="rect">
            <a:avLst/>
          </a:prstGeom>
          <a:noFill/>
          <a:ln/>
        </p:spPr>
        <p:txBody>
          <a:bodyPr wrap="square"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サブスクリプション型</a:t>
            </a:r>
            <a:endParaRPr lang="en-US" sz="1400" dirty="0"/>
          </a:p>
        </p:txBody>
      </p:sp>
      <p:sp>
        <p:nvSpPr>
          <p:cNvPr id="9" name="Text 7"/>
          <p:cNvSpPr/>
          <p:nvPr/>
        </p:nvSpPr>
        <p:spPr>
          <a:xfrm>
            <a:off x="502920" y="2834640"/>
            <a:ext cx="2286000" cy="914400"/>
          </a:xfrm>
          <a:prstGeom prst="rect">
            <a:avLst/>
          </a:prstGeom>
          <a:noFill/>
          <a:ln/>
        </p:spPr>
        <p:txBody>
          <a:bodyPr wrap="square" rtlCol="0" anchor="t"/>
          <a:lstStyle/>
          <a:p>
            <a:pPr algn="l" indent="0" marL="0">
              <a:lnSpc>
                <a:spcPct val="140000"/>
              </a:lnSpc>
              <a:buNone/>
            </a:pPr>
            <a:r>
              <a:rPr lang="en-US" sz="1050" dirty="0">
                <a:solidFill>
                  <a:srgbClr val="64748B"/>
                </a:solidFill>
                <a:latin typeface="Calibri" pitchFamily="34" charset="0"/>
                <a:ea typeface="Calibri" pitchFamily="34" charset="-122"/>
                <a:cs typeface="Calibri" pitchFamily="34" charset="-120"/>
              </a:rPr>
              <a:t>月額制で全Packにアクセス。企業のペースで自由に受講。新講座も追加費用なし。</a:t>
            </a:r>
            <a:endParaRPr lang="en-US" sz="1050" dirty="0"/>
          </a:p>
        </p:txBody>
      </p:sp>
      <p:sp>
        <p:nvSpPr>
          <p:cNvPr id="10" name="Shape 8"/>
          <p:cNvSpPr/>
          <p:nvPr/>
        </p:nvSpPr>
        <p:spPr>
          <a:xfrm>
            <a:off x="502920" y="3840480"/>
            <a:ext cx="2286000" cy="640080"/>
          </a:xfrm>
          <a:prstGeom prst="rect">
            <a:avLst/>
          </a:prstGeom>
          <a:solidFill>
            <a:srgbClr val="F0FDFA"/>
          </a:solidFill>
          <a:ln/>
        </p:spPr>
      </p:sp>
      <p:sp>
        <p:nvSpPr>
          <p:cNvPr id="11" name="Text 9"/>
          <p:cNvSpPr/>
          <p:nvPr/>
        </p:nvSpPr>
        <p:spPr>
          <a:xfrm>
            <a:off x="502920" y="3840480"/>
            <a:ext cx="2286000" cy="640080"/>
          </a:xfrm>
          <a:prstGeom prst="rect">
            <a:avLst/>
          </a:prstGeom>
          <a:noFill/>
          <a:ln/>
        </p:spPr>
        <p:txBody>
          <a:bodyPr wrap="square" rtlCol="0" anchor="ctr"/>
          <a:lstStyle/>
          <a:p>
            <a:pPr algn="ctr" indent="0" marL="0">
              <a:lnSpc>
                <a:spcPct val="130000"/>
              </a:lnSpc>
              <a:buNone/>
            </a:pPr>
            <a:r>
              <a:rPr lang="en-US" sz="1000" dirty="0">
                <a:solidFill>
                  <a:srgbClr val="0D9488"/>
                </a:solidFill>
                <a:latin typeface="Calibri" pitchFamily="34" charset="0"/>
                <a:ea typeface="Calibri" pitchFamily="34" charset="-122"/>
                <a:cs typeface="Calibri" pitchFamily="34" charset="-120"/>
              </a:rPr>
              <a:t>少人数で試したい</a:t>
            </a:r>
            <a:endParaRPr lang="en-US" sz="1000" dirty="0"/>
          </a:p>
          <a:p>
            <a:pPr algn="ctr" indent="0" marL="0">
              <a:lnSpc>
                <a:spcPct val="130000"/>
              </a:lnSpc>
              <a:buNone/>
            </a:pPr>
            <a:r>
              <a:rPr lang="en-US" sz="1000" dirty="0">
                <a:solidFill>
                  <a:srgbClr val="0D9488"/>
                </a:solidFill>
                <a:latin typeface="Calibri" pitchFamily="34" charset="0"/>
                <a:ea typeface="Calibri" pitchFamily="34" charset="-122"/>
                <a:cs typeface="Calibri" pitchFamily="34" charset="-120"/>
              </a:rPr>
              <a:t>自分たちのペースで</a:t>
            </a:r>
            <a:endParaRPr lang="en-US" sz="1000" dirty="0"/>
          </a:p>
        </p:txBody>
      </p:sp>
      <p:sp>
        <p:nvSpPr>
          <p:cNvPr id="12" name="Shape 10"/>
          <p:cNvSpPr/>
          <p:nvPr/>
        </p:nvSpPr>
        <p:spPr>
          <a:xfrm>
            <a:off x="3246120" y="1280160"/>
            <a:ext cx="2651760" cy="33832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3" name="Shape 11"/>
          <p:cNvSpPr/>
          <p:nvPr/>
        </p:nvSpPr>
        <p:spPr>
          <a:xfrm>
            <a:off x="4206240" y="1508760"/>
            <a:ext cx="731520" cy="731520"/>
          </a:xfrm>
          <a:prstGeom prst="ellipse">
            <a:avLst/>
          </a:prstGeom>
          <a:solidFill>
            <a:srgbClr val="0D9488"/>
          </a:solidFill>
          <a:ln/>
        </p:spPr>
      </p:sp>
      <p:sp>
        <p:nvSpPr>
          <p:cNvPr id="14" name="Text 12"/>
          <p:cNvSpPr/>
          <p:nvPr/>
        </p:nvSpPr>
        <p:spPr>
          <a:xfrm>
            <a:off x="4206240" y="1508760"/>
            <a:ext cx="731520" cy="731520"/>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B</a:t>
            </a:r>
            <a:endParaRPr lang="en-US" sz="2200" dirty="0"/>
          </a:p>
        </p:txBody>
      </p:sp>
      <p:sp>
        <p:nvSpPr>
          <p:cNvPr id="15" name="Text 13"/>
          <p:cNvSpPr/>
          <p:nvPr/>
        </p:nvSpPr>
        <p:spPr>
          <a:xfrm>
            <a:off x="3383280" y="2377440"/>
            <a:ext cx="2377440" cy="411480"/>
          </a:xfrm>
          <a:prstGeom prst="rect">
            <a:avLst/>
          </a:prstGeom>
          <a:noFill/>
          <a:ln/>
        </p:spPr>
        <p:txBody>
          <a:bodyPr wrap="square"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助成金対応パッケージ</a:t>
            </a:r>
            <a:endParaRPr lang="en-US" sz="1400" dirty="0"/>
          </a:p>
        </p:txBody>
      </p:sp>
      <p:sp>
        <p:nvSpPr>
          <p:cNvPr id="16" name="Text 14"/>
          <p:cNvSpPr/>
          <p:nvPr/>
        </p:nvSpPr>
        <p:spPr>
          <a:xfrm>
            <a:off x="3429000" y="2834640"/>
            <a:ext cx="2286000" cy="914400"/>
          </a:xfrm>
          <a:prstGeom prst="rect">
            <a:avLst/>
          </a:prstGeom>
          <a:noFill/>
          <a:ln/>
        </p:spPr>
        <p:txBody>
          <a:bodyPr wrap="square" rtlCol="0" anchor="t"/>
          <a:lstStyle/>
          <a:p>
            <a:pPr algn="l" indent="0" marL="0">
              <a:lnSpc>
                <a:spcPct val="140000"/>
              </a:lnSpc>
              <a:buNone/>
            </a:pPr>
            <a:r>
              <a:rPr lang="en-US" sz="1050" dirty="0">
                <a:solidFill>
                  <a:srgbClr val="64748B"/>
                </a:solidFill>
                <a:latin typeface="Calibri" pitchFamily="34" charset="0"/>
                <a:ea typeface="Calibri" pitchFamily="34" charset="-122"/>
                <a:cs typeface="Calibri" pitchFamily="34" charset="-120"/>
              </a:rPr>
              <a:t>人材開発支援助成金の要件を満たすカリキュラム。研修コスト負担を大幅軽減。</a:t>
            </a:r>
            <a:endParaRPr lang="en-US" sz="1050" dirty="0"/>
          </a:p>
        </p:txBody>
      </p:sp>
      <p:sp>
        <p:nvSpPr>
          <p:cNvPr id="17" name="Shape 15"/>
          <p:cNvSpPr/>
          <p:nvPr/>
        </p:nvSpPr>
        <p:spPr>
          <a:xfrm>
            <a:off x="3429000" y="3840480"/>
            <a:ext cx="2286000" cy="640080"/>
          </a:xfrm>
          <a:prstGeom prst="rect">
            <a:avLst/>
          </a:prstGeom>
          <a:solidFill>
            <a:srgbClr val="F0FDFA"/>
          </a:solidFill>
          <a:ln/>
        </p:spPr>
      </p:sp>
      <p:sp>
        <p:nvSpPr>
          <p:cNvPr id="18" name="Text 16"/>
          <p:cNvSpPr/>
          <p:nvPr/>
        </p:nvSpPr>
        <p:spPr>
          <a:xfrm>
            <a:off x="3429000" y="3840480"/>
            <a:ext cx="2286000" cy="640080"/>
          </a:xfrm>
          <a:prstGeom prst="rect">
            <a:avLst/>
          </a:prstGeom>
          <a:noFill/>
          <a:ln/>
        </p:spPr>
        <p:txBody>
          <a:bodyPr wrap="square" rtlCol="0" anchor="ctr"/>
          <a:lstStyle/>
          <a:p>
            <a:pPr algn="ctr" indent="0" marL="0">
              <a:lnSpc>
                <a:spcPct val="130000"/>
              </a:lnSpc>
              <a:buNone/>
            </a:pPr>
            <a:r>
              <a:rPr lang="en-US" sz="1000" dirty="0">
                <a:solidFill>
                  <a:srgbClr val="0D9488"/>
                </a:solidFill>
                <a:latin typeface="Calibri" pitchFamily="34" charset="0"/>
                <a:ea typeface="Calibri" pitchFamily="34" charset="-122"/>
                <a:cs typeface="Calibri" pitchFamily="34" charset="-120"/>
              </a:rPr>
              <a:t>コストを抑えつつ</a:t>
            </a:r>
            <a:endParaRPr lang="en-US" sz="1000" dirty="0"/>
          </a:p>
          <a:p>
            <a:pPr algn="ctr" indent="0" marL="0">
              <a:lnSpc>
                <a:spcPct val="130000"/>
              </a:lnSpc>
              <a:buNone/>
            </a:pPr>
            <a:r>
              <a:rPr lang="en-US" sz="1000" dirty="0">
                <a:solidFill>
                  <a:srgbClr val="0D9488"/>
                </a:solidFill>
                <a:latin typeface="Calibri" pitchFamily="34" charset="0"/>
                <a:ea typeface="Calibri" pitchFamily="34" charset="-122"/>
                <a:cs typeface="Calibri" pitchFamily="34" charset="-120"/>
              </a:rPr>
              <a:t>しっかり育成したい</a:t>
            </a:r>
            <a:endParaRPr lang="en-US" sz="1000" dirty="0"/>
          </a:p>
        </p:txBody>
      </p:sp>
      <p:sp>
        <p:nvSpPr>
          <p:cNvPr id="19" name="Shape 17"/>
          <p:cNvSpPr/>
          <p:nvPr/>
        </p:nvSpPr>
        <p:spPr>
          <a:xfrm>
            <a:off x="6172200" y="1280160"/>
            <a:ext cx="2651760" cy="33832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0" name="Shape 18"/>
          <p:cNvSpPr/>
          <p:nvPr/>
        </p:nvSpPr>
        <p:spPr>
          <a:xfrm>
            <a:off x="7132320" y="1508760"/>
            <a:ext cx="731520" cy="731520"/>
          </a:xfrm>
          <a:prstGeom prst="ellipse">
            <a:avLst/>
          </a:prstGeom>
          <a:solidFill>
            <a:srgbClr val="0D9488"/>
          </a:solidFill>
          <a:ln/>
        </p:spPr>
      </p:sp>
      <p:sp>
        <p:nvSpPr>
          <p:cNvPr id="21" name="Text 19"/>
          <p:cNvSpPr/>
          <p:nvPr/>
        </p:nvSpPr>
        <p:spPr>
          <a:xfrm>
            <a:off x="7132320" y="1508760"/>
            <a:ext cx="731520" cy="731520"/>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C</a:t>
            </a:r>
            <a:endParaRPr lang="en-US" sz="2200" dirty="0"/>
          </a:p>
        </p:txBody>
      </p:sp>
      <p:sp>
        <p:nvSpPr>
          <p:cNvPr id="22" name="Text 20"/>
          <p:cNvSpPr/>
          <p:nvPr/>
        </p:nvSpPr>
        <p:spPr>
          <a:xfrm>
            <a:off x="6309360" y="2377440"/>
            <a:ext cx="2377440" cy="411480"/>
          </a:xfrm>
          <a:prstGeom prst="rect">
            <a:avLst/>
          </a:prstGeom>
          <a:noFill/>
          <a:ln/>
        </p:spPr>
        <p:txBody>
          <a:bodyPr wrap="square"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オーダーメイド研修</a:t>
            </a:r>
            <a:endParaRPr lang="en-US" sz="1400" dirty="0"/>
          </a:p>
        </p:txBody>
      </p:sp>
      <p:sp>
        <p:nvSpPr>
          <p:cNvPr id="23" name="Text 21"/>
          <p:cNvSpPr/>
          <p:nvPr/>
        </p:nvSpPr>
        <p:spPr>
          <a:xfrm>
            <a:off x="6355080" y="2834640"/>
            <a:ext cx="2286000" cy="914400"/>
          </a:xfrm>
          <a:prstGeom prst="rect">
            <a:avLst/>
          </a:prstGeom>
          <a:noFill/>
          <a:ln/>
        </p:spPr>
        <p:txBody>
          <a:bodyPr wrap="square" rtlCol="0" anchor="t"/>
          <a:lstStyle/>
          <a:p>
            <a:pPr algn="l" indent="0" marL="0">
              <a:lnSpc>
                <a:spcPct val="140000"/>
              </a:lnSpc>
              <a:buNone/>
            </a:pPr>
            <a:r>
              <a:rPr lang="en-US" sz="1050" dirty="0">
                <a:solidFill>
                  <a:srgbClr val="64748B"/>
                </a:solidFill>
                <a:latin typeface="Calibri" pitchFamily="34" charset="0"/>
                <a:ea typeface="Calibri" pitchFamily="34" charset="-122"/>
                <a:cs typeface="Calibri" pitchFamily="34" charset="-120"/>
              </a:rPr>
              <a:t>業種・業務・使用ツールに合わせたカスタマイズ。Salesforce連携やkintone効率化にも対応。</a:t>
            </a:r>
            <a:endParaRPr lang="en-US" sz="1050" dirty="0"/>
          </a:p>
        </p:txBody>
      </p:sp>
      <p:sp>
        <p:nvSpPr>
          <p:cNvPr id="24" name="Shape 22"/>
          <p:cNvSpPr/>
          <p:nvPr/>
        </p:nvSpPr>
        <p:spPr>
          <a:xfrm>
            <a:off x="6355080" y="3840480"/>
            <a:ext cx="2286000" cy="640080"/>
          </a:xfrm>
          <a:prstGeom prst="rect">
            <a:avLst/>
          </a:prstGeom>
          <a:solidFill>
            <a:srgbClr val="F0FDFA"/>
          </a:solidFill>
          <a:ln/>
        </p:spPr>
      </p:sp>
      <p:sp>
        <p:nvSpPr>
          <p:cNvPr id="25" name="Text 23"/>
          <p:cNvSpPr/>
          <p:nvPr/>
        </p:nvSpPr>
        <p:spPr>
          <a:xfrm>
            <a:off x="6355080" y="3840480"/>
            <a:ext cx="2286000" cy="640080"/>
          </a:xfrm>
          <a:prstGeom prst="rect">
            <a:avLst/>
          </a:prstGeom>
          <a:noFill/>
          <a:ln/>
        </p:spPr>
        <p:txBody>
          <a:bodyPr wrap="square" rtlCol="0" anchor="ctr"/>
          <a:lstStyle/>
          <a:p>
            <a:pPr algn="ctr" indent="0" marL="0">
              <a:lnSpc>
                <a:spcPct val="130000"/>
              </a:lnSpc>
              <a:buNone/>
            </a:pPr>
            <a:r>
              <a:rPr lang="en-US" sz="1000" dirty="0">
                <a:solidFill>
                  <a:srgbClr val="0D9488"/>
                </a:solidFill>
                <a:latin typeface="Calibri" pitchFamily="34" charset="0"/>
                <a:ea typeface="Calibri" pitchFamily="34" charset="-122"/>
                <a:cs typeface="Calibri" pitchFamily="34" charset="-120"/>
              </a:rPr>
              <a:t>自社業務に特化した</a:t>
            </a:r>
            <a:endParaRPr lang="en-US" sz="1000" dirty="0"/>
          </a:p>
          <a:p>
            <a:pPr algn="ctr" indent="0" marL="0">
              <a:lnSpc>
                <a:spcPct val="130000"/>
              </a:lnSpc>
              <a:buNone/>
            </a:pPr>
            <a:r>
              <a:rPr lang="en-US" sz="1000" dirty="0">
                <a:solidFill>
                  <a:srgbClr val="0D9488"/>
                </a:solidFill>
                <a:latin typeface="Calibri" pitchFamily="34" charset="0"/>
                <a:ea typeface="Calibri" pitchFamily="34" charset="-122"/>
                <a:cs typeface="Calibri" pitchFamily="34" charset="-120"/>
              </a:rPr>
              <a:t>内容で研修してほしい</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研修カリキュラム — 全40講座（Pack 1〜4）</a:t>
            </a:r>
            <a:endParaRPr lang="en-US" sz="2200" dirty="0"/>
          </a:p>
        </p:txBody>
      </p:sp>
      <p:sp>
        <p:nvSpPr>
          <p:cNvPr id="4" name="Text 2"/>
          <p:cNvSpPr/>
          <p:nvPr/>
        </p:nvSpPr>
        <p:spPr>
          <a:xfrm>
            <a:off x="457200" y="777240"/>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使う → 作る → 広げる → 深める。段階的にスキルが積み上がる構成。</a:t>
            </a:r>
            <a:endParaRPr lang="en-US" sz="1200" dirty="0"/>
          </a:p>
        </p:txBody>
      </p:sp>
      <p:sp>
        <p:nvSpPr>
          <p:cNvPr id="5" name="Shape 3"/>
          <p:cNvSpPr/>
          <p:nvPr/>
        </p:nvSpPr>
        <p:spPr>
          <a:xfrm>
            <a:off x="457200" y="1280160"/>
            <a:ext cx="3931920" cy="1554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280160"/>
            <a:ext cx="914400" cy="1554480"/>
          </a:xfrm>
          <a:prstGeom prst="rect">
            <a:avLst/>
          </a:prstGeom>
          <a:solidFill>
            <a:srgbClr val="0D9488"/>
          </a:solidFill>
          <a:ln/>
        </p:spPr>
      </p:sp>
      <p:sp>
        <p:nvSpPr>
          <p:cNvPr id="7" name="Text 5"/>
          <p:cNvSpPr/>
          <p:nvPr/>
        </p:nvSpPr>
        <p:spPr>
          <a:xfrm>
            <a:off x="457200" y="1280160"/>
            <a:ext cx="914400" cy="1554480"/>
          </a:xfrm>
          <a:prstGeom prst="rect">
            <a:avLst/>
          </a:prstGeom>
          <a:noFill/>
          <a:ln/>
        </p:spPr>
        <p:txBody>
          <a:bodyPr wrap="square"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Pack</a:t>
            </a:r>
            <a:endParaRPr lang="en-US" sz="1000" dirty="0"/>
          </a:p>
          <a:p>
            <a:pPr algn="ctr" indent="0" marL="0">
              <a:buNone/>
            </a:pPr>
            <a:r>
              <a:rPr lang="en-US" sz="2800" b="1" dirty="0">
                <a:solidFill>
                  <a:srgbClr val="FFFFFF"/>
                </a:solidFill>
                <a:latin typeface="Trebuchet MS" pitchFamily="34" charset="0"/>
                <a:ea typeface="Trebuchet MS" pitchFamily="34" charset="-122"/>
                <a:cs typeface="Trebuchet MS" pitchFamily="34" charset="-120"/>
              </a:rPr>
              <a:t>1</a:t>
            </a:r>
            <a:endParaRPr lang="en-US" sz="1000" dirty="0"/>
          </a:p>
        </p:txBody>
      </p:sp>
      <p:sp>
        <p:nvSpPr>
          <p:cNvPr id="8" name="Text 6"/>
          <p:cNvSpPr/>
          <p:nvPr/>
        </p:nvSpPr>
        <p:spPr>
          <a:xfrm>
            <a:off x="1508760" y="1371600"/>
            <a:ext cx="2651760" cy="640080"/>
          </a:xfrm>
          <a:prstGeom prst="rect">
            <a:avLst/>
          </a:prstGeom>
          <a:noFill/>
          <a:ln/>
        </p:spPr>
        <p:txBody>
          <a:bodyPr wrap="square"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AI基礎＆</a:t>
            </a:r>
            <a:endParaRPr lang="en-US" sz="1400" dirty="0"/>
          </a:p>
          <a:p>
            <a:pPr indent="0" marL="0">
              <a:buNone/>
            </a:pPr>
            <a:r>
              <a:rPr lang="en-US" sz="1400" b="1" dirty="0">
                <a:solidFill>
                  <a:srgbClr val="1E293B"/>
                </a:solidFill>
                <a:latin typeface="Trebuchet MS" pitchFamily="34" charset="0"/>
                <a:ea typeface="Trebuchet MS" pitchFamily="34" charset="-122"/>
                <a:cs typeface="Trebuchet MS" pitchFamily="34" charset="-120"/>
              </a:rPr>
              <a:t>業務自動化</a:t>
            </a:r>
            <a:endParaRPr lang="en-US" sz="1400" dirty="0"/>
          </a:p>
        </p:txBody>
      </p:sp>
      <p:sp>
        <p:nvSpPr>
          <p:cNvPr id="9" name="Text 7"/>
          <p:cNvSpPr/>
          <p:nvPr/>
        </p:nvSpPr>
        <p:spPr>
          <a:xfrm>
            <a:off x="1508760" y="2057400"/>
            <a:ext cx="26517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対象: 全社員</a:t>
            </a:r>
            <a:endParaRPr lang="en-US" sz="1000" dirty="0"/>
          </a:p>
        </p:txBody>
      </p:sp>
      <p:sp>
        <p:nvSpPr>
          <p:cNvPr id="10" name="Shape 8"/>
          <p:cNvSpPr/>
          <p:nvPr/>
        </p:nvSpPr>
        <p:spPr>
          <a:xfrm>
            <a:off x="1508760" y="2377440"/>
            <a:ext cx="1645920" cy="320040"/>
          </a:xfrm>
          <a:prstGeom prst="rect">
            <a:avLst/>
          </a:prstGeom>
          <a:solidFill>
            <a:srgbClr val="F0FDFA"/>
          </a:solidFill>
          <a:ln/>
        </p:spPr>
      </p:sp>
      <p:sp>
        <p:nvSpPr>
          <p:cNvPr id="11" name="Text 9"/>
          <p:cNvSpPr/>
          <p:nvPr/>
        </p:nvSpPr>
        <p:spPr>
          <a:xfrm>
            <a:off x="1508760" y="2377440"/>
            <a:ext cx="1645920" cy="32004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AIを使う力</a:t>
            </a:r>
            <a:endParaRPr lang="en-US" sz="1000" dirty="0"/>
          </a:p>
        </p:txBody>
      </p:sp>
      <p:pic>
        <p:nvPicPr>
          <p:cNvPr id="12" name="Image 0" descr="preencoded.png">    </p:cNvPr>
          <p:cNvPicPr>
            <a:picLocks noChangeAspect="1"/>
          </p:cNvPicPr>
          <p:nvPr/>
        </p:nvPicPr>
        <p:blipFill>
          <a:blip r:embed="rId1"/>
          <a:stretch>
            <a:fillRect/>
          </a:stretch>
        </p:blipFill>
        <p:spPr>
          <a:xfrm>
            <a:off x="4480560" y="1874520"/>
            <a:ext cx="228600" cy="228600"/>
          </a:xfrm>
          <a:prstGeom prst="rect">
            <a:avLst/>
          </a:prstGeom>
        </p:spPr>
      </p:pic>
      <p:sp>
        <p:nvSpPr>
          <p:cNvPr id="13" name="Shape 10"/>
          <p:cNvSpPr/>
          <p:nvPr/>
        </p:nvSpPr>
        <p:spPr>
          <a:xfrm>
            <a:off x="4663440" y="1280160"/>
            <a:ext cx="3931920" cy="1554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Shape 11"/>
          <p:cNvSpPr/>
          <p:nvPr/>
        </p:nvSpPr>
        <p:spPr>
          <a:xfrm>
            <a:off x="4663440" y="1280160"/>
            <a:ext cx="914400" cy="1554480"/>
          </a:xfrm>
          <a:prstGeom prst="rect">
            <a:avLst/>
          </a:prstGeom>
          <a:solidFill>
            <a:srgbClr val="0891B2"/>
          </a:solidFill>
          <a:ln/>
        </p:spPr>
      </p:sp>
      <p:sp>
        <p:nvSpPr>
          <p:cNvPr id="15" name="Text 12"/>
          <p:cNvSpPr/>
          <p:nvPr/>
        </p:nvSpPr>
        <p:spPr>
          <a:xfrm>
            <a:off x="4663440" y="1280160"/>
            <a:ext cx="914400" cy="1554480"/>
          </a:xfrm>
          <a:prstGeom prst="rect">
            <a:avLst/>
          </a:prstGeom>
          <a:noFill/>
          <a:ln/>
        </p:spPr>
        <p:txBody>
          <a:bodyPr wrap="square"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Pack</a:t>
            </a:r>
            <a:endParaRPr lang="en-US" sz="1000" dirty="0"/>
          </a:p>
          <a:p>
            <a:pPr algn="ctr" indent="0" marL="0">
              <a:buNone/>
            </a:pPr>
            <a:r>
              <a:rPr lang="en-US" sz="2800" b="1" dirty="0">
                <a:solidFill>
                  <a:srgbClr val="FFFFFF"/>
                </a:solidFill>
                <a:latin typeface="Trebuchet MS" pitchFamily="34" charset="0"/>
                <a:ea typeface="Trebuchet MS" pitchFamily="34" charset="-122"/>
                <a:cs typeface="Trebuchet MS" pitchFamily="34" charset="-120"/>
              </a:rPr>
              <a:t>2</a:t>
            </a:r>
            <a:endParaRPr lang="en-US" sz="1000" dirty="0"/>
          </a:p>
        </p:txBody>
      </p:sp>
      <p:sp>
        <p:nvSpPr>
          <p:cNvPr id="16" name="Text 13"/>
          <p:cNvSpPr/>
          <p:nvPr/>
        </p:nvSpPr>
        <p:spPr>
          <a:xfrm>
            <a:off x="5715000" y="1371600"/>
            <a:ext cx="2651760" cy="640080"/>
          </a:xfrm>
          <a:prstGeom prst="rect">
            <a:avLst/>
          </a:prstGeom>
          <a:noFill/>
          <a:ln/>
        </p:spPr>
        <p:txBody>
          <a:bodyPr wrap="square"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AI開発実践</a:t>
            </a:r>
            <a:endParaRPr lang="en-US" sz="1400" dirty="0"/>
          </a:p>
        </p:txBody>
      </p:sp>
      <p:sp>
        <p:nvSpPr>
          <p:cNvPr id="17" name="Text 14"/>
          <p:cNvSpPr/>
          <p:nvPr/>
        </p:nvSpPr>
        <p:spPr>
          <a:xfrm>
            <a:off x="5715000" y="2057400"/>
            <a:ext cx="26517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対象: 開発志向の社員</a:t>
            </a:r>
            <a:endParaRPr lang="en-US" sz="1000" dirty="0"/>
          </a:p>
        </p:txBody>
      </p:sp>
      <p:sp>
        <p:nvSpPr>
          <p:cNvPr id="18" name="Shape 15"/>
          <p:cNvSpPr/>
          <p:nvPr/>
        </p:nvSpPr>
        <p:spPr>
          <a:xfrm>
            <a:off x="5715000" y="2377440"/>
            <a:ext cx="1645920" cy="320040"/>
          </a:xfrm>
          <a:prstGeom prst="rect">
            <a:avLst/>
          </a:prstGeom>
          <a:solidFill>
            <a:srgbClr val="F0FDFA"/>
          </a:solidFill>
          <a:ln/>
        </p:spPr>
      </p:sp>
      <p:sp>
        <p:nvSpPr>
          <p:cNvPr id="19" name="Text 16"/>
          <p:cNvSpPr/>
          <p:nvPr/>
        </p:nvSpPr>
        <p:spPr>
          <a:xfrm>
            <a:off x="5715000" y="2377440"/>
            <a:ext cx="1645920" cy="32004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AIに作らせる力</a:t>
            </a:r>
            <a:endParaRPr lang="en-US" sz="1000" dirty="0"/>
          </a:p>
        </p:txBody>
      </p:sp>
      <p:sp>
        <p:nvSpPr>
          <p:cNvPr id="20" name="Shape 17"/>
          <p:cNvSpPr/>
          <p:nvPr/>
        </p:nvSpPr>
        <p:spPr>
          <a:xfrm>
            <a:off x="457200" y="3108960"/>
            <a:ext cx="3931920" cy="1554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1" name="Shape 18"/>
          <p:cNvSpPr/>
          <p:nvPr/>
        </p:nvSpPr>
        <p:spPr>
          <a:xfrm>
            <a:off x="457200" y="3108960"/>
            <a:ext cx="914400" cy="1554480"/>
          </a:xfrm>
          <a:prstGeom prst="rect">
            <a:avLst/>
          </a:prstGeom>
          <a:solidFill>
            <a:srgbClr val="0E7490"/>
          </a:solidFill>
          <a:ln/>
        </p:spPr>
      </p:sp>
      <p:sp>
        <p:nvSpPr>
          <p:cNvPr id="22" name="Text 19"/>
          <p:cNvSpPr/>
          <p:nvPr/>
        </p:nvSpPr>
        <p:spPr>
          <a:xfrm>
            <a:off x="457200" y="3108960"/>
            <a:ext cx="914400" cy="1554480"/>
          </a:xfrm>
          <a:prstGeom prst="rect">
            <a:avLst/>
          </a:prstGeom>
          <a:noFill/>
          <a:ln/>
        </p:spPr>
        <p:txBody>
          <a:bodyPr wrap="square"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Pack</a:t>
            </a:r>
            <a:endParaRPr lang="en-US" sz="1000" dirty="0"/>
          </a:p>
          <a:p>
            <a:pPr algn="ctr" indent="0" marL="0">
              <a:buNone/>
            </a:pPr>
            <a:r>
              <a:rPr lang="en-US" sz="2800" b="1" dirty="0">
                <a:solidFill>
                  <a:srgbClr val="FFFFFF"/>
                </a:solidFill>
                <a:latin typeface="Trebuchet MS" pitchFamily="34" charset="0"/>
                <a:ea typeface="Trebuchet MS" pitchFamily="34" charset="-122"/>
                <a:cs typeface="Trebuchet MS" pitchFamily="34" charset="-120"/>
              </a:rPr>
              <a:t>3</a:t>
            </a:r>
            <a:endParaRPr lang="en-US" sz="1000" dirty="0"/>
          </a:p>
        </p:txBody>
      </p:sp>
      <p:sp>
        <p:nvSpPr>
          <p:cNvPr id="23" name="Text 20"/>
          <p:cNvSpPr/>
          <p:nvPr/>
        </p:nvSpPr>
        <p:spPr>
          <a:xfrm>
            <a:off x="1508760" y="3200400"/>
            <a:ext cx="2651760" cy="640080"/>
          </a:xfrm>
          <a:prstGeom prst="rect">
            <a:avLst/>
          </a:prstGeom>
          <a:noFill/>
          <a:ln/>
        </p:spPr>
        <p:txBody>
          <a:bodyPr wrap="square"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AI組織導入＆</a:t>
            </a:r>
            <a:endParaRPr lang="en-US" sz="1400" dirty="0"/>
          </a:p>
          <a:p>
            <a:pPr indent="0" marL="0">
              <a:buNone/>
            </a:pPr>
            <a:r>
              <a:rPr lang="en-US" sz="1400" b="1" dirty="0">
                <a:solidFill>
                  <a:srgbClr val="1E293B"/>
                </a:solidFill>
                <a:latin typeface="Trebuchet MS" pitchFamily="34" charset="0"/>
                <a:ea typeface="Trebuchet MS" pitchFamily="34" charset="-122"/>
                <a:cs typeface="Trebuchet MS" pitchFamily="34" charset="-120"/>
              </a:rPr>
              <a:t>マネジメント</a:t>
            </a:r>
            <a:endParaRPr lang="en-US" sz="1400" dirty="0"/>
          </a:p>
        </p:txBody>
      </p:sp>
      <p:sp>
        <p:nvSpPr>
          <p:cNvPr id="24" name="Text 21"/>
          <p:cNvSpPr/>
          <p:nvPr/>
        </p:nvSpPr>
        <p:spPr>
          <a:xfrm>
            <a:off x="1508760" y="3886200"/>
            <a:ext cx="26517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対象: 管理職・経営層</a:t>
            </a:r>
            <a:endParaRPr lang="en-US" sz="1000" dirty="0"/>
          </a:p>
        </p:txBody>
      </p:sp>
      <p:sp>
        <p:nvSpPr>
          <p:cNvPr id="25" name="Shape 22"/>
          <p:cNvSpPr/>
          <p:nvPr/>
        </p:nvSpPr>
        <p:spPr>
          <a:xfrm>
            <a:off x="1508760" y="4206240"/>
            <a:ext cx="1645920" cy="320040"/>
          </a:xfrm>
          <a:prstGeom prst="rect">
            <a:avLst/>
          </a:prstGeom>
          <a:solidFill>
            <a:srgbClr val="F0FDFA"/>
          </a:solidFill>
          <a:ln/>
        </p:spPr>
      </p:sp>
      <p:sp>
        <p:nvSpPr>
          <p:cNvPr id="26" name="Text 23"/>
          <p:cNvSpPr/>
          <p:nvPr/>
        </p:nvSpPr>
        <p:spPr>
          <a:xfrm>
            <a:off x="1508760" y="4206240"/>
            <a:ext cx="1645920" cy="32004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AIを広げる力</a:t>
            </a:r>
            <a:endParaRPr lang="en-US" sz="1000" dirty="0"/>
          </a:p>
        </p:txBody>
      </p:sp>
      <p:pic>
        <p:nvPicPr>
          <p:cNvPr id="27" name="Image 1" descr="preencoded.png">    </p:cNvPr>
          <p:cNvPicPr>
            <a:picLocks noChangeAspect="1"/>
          </p:cNvPicPr>
          <p:nvPr/>
        </p:nvPicPr>
        <p:blipFill>
          <a:blip r:embed="rId2"/>
          <a:stretch>
            <a:fillRect/>
          </a:stretch>
        </p:blipFill>
        <p:spPr>
          <a:xfrm>
            <a:off x="4480560" y="3703320"/>
            <a:ext cx="228600" cy="228600"/>
          </a:xfrm>
          <a:prstGeom prst="rect">
            <a:avLst/>
          </a:prstGeom>
        </p:spPr>
      </p:pic>
      <p:sp>
        <p:nvSpPr>
          <p:cNvPr id="28" name="Shape 24"/>
          <p:cNvSpPr/>
          <p:nvPr/>
        </p:nvSpPr>
        <p:spPr>
          <a:xfrm>
            <a:off x="4663440" y="3108960"/>
            <a:ext cx="3931920" cy="1554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9" name="Shape 25"/>
          <p:cNvSpPr/>
          <p:nvPr/>
        </p:nvSpPr>
        <p:spPr>
          <a:xfrm>
            <a:off x="4663440" y="3108960"/>
            <a:ext cx="914400" cy="1554480"/>
          </a:xfrm>
          <a:prstGeom prst="rect">
            <a:avLst/>
          </a:prstGeom>
          <a:solidFill>
            <a:srgbClr val="155E75"/>
          </a:solidFill>
          <a:ln/>
        </p:spPr>
      </p:sp>
      <p:sp>
        <p:nvSpPr>
          <p:cNvPr id="30" name="Text 26"/>
          <p:cNvSpPr/>
          <p:nvPr/>
        </p:nvSpPr>
        <p:spPr>
          <a:xfrm>
            <a:off x="4663440" y="3108960"/>
            <a:ext cx="914400" cy="1554480"/>
          </a:xfrm>
          <a:prstGeom prst="rect">
            <a:avLst/>
          </a:prstGeom>
          <a:noFill/>
          <a:ln/>
        </p:spPr>
        <p:txBody>
          <a:bodyPr wrap="square"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Pack</a:t>
            </a:r>
            <a:endParaRPr lang="en-US" sz="1000" dirty="0"/>
          </a:p>
          <a:p>
            <a:pPr algn="ctr" indent="0" marL="0">
              <a:buNone/>
            </a:pPr>
            <a:r>
              <a:rPr lang="en-US" sz="2800" b="1" dirty="0">
                <a:solidFill>
                  <a:srgbClr val="FFFFFF"/>
                </a:solidFill>
                <a:latin typeface="Trebuchet MS" pitchFamily="34" charset="0"/>
                <a:ea typeface="Trebuchet MS" pitchFamily="34" charset="-122"/>
                <a:cs typeface="Trebuchet MS" pitchFamily="34" charset="-120"/>
              </a:rPr>
              <a:t>4</a:t>
            </a:r>
            <a:endParaRPr lang="en-US" sz="1000" dirty="0"/>
          </a:p>
        </p:txBody>
      </p:sp>
      <p:sp>
        <p:nvSpPr>
          <p:cNvPr id="31" name="Text 27"/>
          <p:cNvSpPr/>
          <p:nvPr/>
        </p:nvSpPr>
        <p:spPr>
          <a:xfrm>
            <a:off x="5715000" y="3200400"/>
            <a:ext cx="2651760" cy="640080"/>
          </a:xfrm>
          <a:prstGeom prst="rect">
            <a:avLst/>
          </a:prstGeom>
          <a:noFill/>
          <a:ln/>
        </p:spPr>
        <p:txBody>
          <a:bodyPr wrap="square"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応用＆</a:t>
            </a:r>
            <a:endParaRPr lang="en-US" sz="1400" dirty="0"/>
          </a:p>
          <a:p>
            <a:pPr indent="0" marL="0">
              <a:buNone/>
            </a:pPr>
            <a:r>
              <a:rPr lang="en-US" sz="1400" b="1" dirty="0">
                <a:solidFill>
                  <a:srgbClr val="1E293B"/>
                </a:solidFill>
                <a:latin typeface="Trebuchet MS" pitchFamily="34" charset="0"/>
                <a:ea typeface="Trebuchet MS" pitchFamily="34" charset="-122"/>
                <a:cs typeface="Trebuchet MS" pitchFamily="34" charset="-120"/>
              </a:rPr>
              <a:t>最新AI活用</a:t>
            </a:r>
            <a:endParaRPr lang="en-US" sz="1400" dirty="0"/>
          </a:p>
        </p:txBody>
      </p:sp>
      <p:sp>
        <p:nvSpPr>
          <p:cNvPr id="32" name="Text 28"/>
          <p:cNvSpPr/>
          <p:nvPr/>
        </p:nvSpPr>
        <p:spPr>
          <a:xfrm>
            <a:off x="5715000" y="3886200"/>
            <a:ext cx="26517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対象: 全Pack修了者</a:t>
            </a:r>
            <a:endParaRPr lang="en-US" sz="1000" dirty="0"/>
          </a:p>
        </p:txBody>
      </p:sp>
      <p:sp>
        <p:nvSpPr>
          <p:cNvPr id="33" name="Shape 29"/>
          <p:cNvSpPr/>
          <p:nvPr/>
        </p:nvSpPr>
        <p:spPr>
          <a:xfrm>
            <a:off x="5715000" y="4206240"/>
            <a:ext cx="1645920" cy="320040"/>
          </a:xfrm>
          <a:prstGeom prst="rect">
            <a:avLst/>
          </a:prstGeom>
          <a:solidFill>
            <a:srgbClr val="F0FDFA"/>
          </a:solidFill>
          <a:ln/>
        </p:spPr>
      </p:sp>
      <p:sp>
        <p:nvSpPr>
          <p:cNvPr id="34" name="Text 30"/>
          <p:cNvSpPr/>
          <p:nvPr/>
        </p:nvSpPr>
        <p:spPr>
          <a:xfrm>
            <a:off x="5715000" y="4206240"/>
            <a:ext cx="1645920" cy="32004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AIを深める力</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3" name="Shape 1"/>
          <p:cNvSpPr/>
          <p:nvPr/>
        </p:nvSpPr>
        <p:spPr>
          <a:xfrm>
            <a:off x="0" y="0"/>
            <a:ext cx="9144000" cy="822960"/>
          </a:xfrm>
          <a:prstGeom prst="rect">
            <a:avLst/>
          </a:prstGeom>
          <a:solidFill>
            <a:srgbClr val="0D9488"/>
          </a:solidFill>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Trebuchet MS" pitchFamily="34" charset="0"/>
                <a:ea typeface="Trebuchet MS" pitchFamily="34" charset="-122"/>
                <a:cs typeface="Trebuchet MS" pitchFamily="34" charset="-120"/>
              </a:rPr>
              <a:t>Pack 1：AI基礎＆業務自動化（全10講座）</a:t>
            </a:r>
            <a:endParaRPr lang="en-US" sz="2000" dirty="0"/>
          </a:p>
        </p:txBody>
      </p:sp>
      <p:sp>
        <p:nvSpPr>
          <p:cNvPr id="5" name="Shape 3"/>
          <p:cNvSpPr/>
          <p:nvPr/>
        </p:nvSpPr>
        <p:spPr>
          <a:xfrm>
            <a:off x="457200" y="105156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051560"/>
            <a:ext cx="54864" cy="502920"/>
          </a:xfrm>
          <a:prstGeom prst="rect">
            <a:avLst/>
          </a:prstGeom>
          <a:solidFill>
            <a:srgbClr val="0D9488"/>
          </a:solidFill>
          <a:ln/>
        </p:spPr>
      </p:sp>
      <p:sp>
        <p:nvSpPr>
          <p:cNvPr id="7" name="Text 5"/>
          <p:cNvSpPr/>
          <p:nvPr/>
        </p:nvSpPr>
        <p:spPr>
          <a:xfrm>
            <a:off x="594360" y="105156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68680" y="105156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AIツール全体像＆環境構築ガイド</a:t>
            </a:r>
            <a:endParaRPr lang="en-US" sz="1050" dirty="0"/>
          </a:p>
        </p:txBody>
      </p:sp>
      <p:sp>
        <p:nvSpPr>
          <p:cNvPr id="9" name="Shape 7"/>
          <p:cNvSpPr/>
          <p:nvPr/>
        </p:nvSpPr>
        <p:spPr>
          <a:xfrm>
            <a:off x="457200" y="169164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Shape 8"/>
          <p:cNvSpPr/>
          <p:nvPr/>
        </p:nvSpPr>
        <p:spPr>
          <a:xfrm>
            <a:off x="457200" y="1691640"/>
            <a:ext cx="54864" cy="502920"/>
          </a:xfrm>
          <a:prstGeom prst="rect">
            <a:avLst/>
          </a:prstGeom>
          <a:solidFill>
            <a:srgbClr val="0D9488"/>
          </a:solidFill>
          <a:ln/>
        </p:spPr>
      </p:sp>
      <p:sp>
        <p:nvSpPr>
          <p:cNvPr id="11" name="Text 9"/>
          <p:cNvSpPr/>
          <p:nvPr/>
        </p:nvSpPr>
        <p:spPr>
          <a:xfrm>
            <a:off x="594360" y="169164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868680" y="169164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プロンプトエンジニアリング実践</a:t>
            </a:r>
            <a:endParaRPr lang="en-US" sz="1050" dirty="0"/>
          </a:p>
        </p:txBody>
      </p:sp>
      <p:sp>
        <p:nvSpPr>
          <p:cNvPr id="13" name="Shape 11"/>
          <p:cNvSpPr/>
          <p:nvPr/>
        </p:nvSpPr>
        <p:spPr>
          <a:xfrm>
            <a:off x="457200" y="233172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Shape 12"/>
          <p:cNvSpPr/>
          <p:nvPr/>
        </p:nvSpPr>
        <p:spPr>
          <a:xfrm>
            <a:off x="457200" y="2331720"/>
            <a:ext cx="54864" cy="502920"/>
          </a:xfrm>
          <a:prstGeom prst="rect">
            <a:avLst/>
          </a:prstGeom>
          <a:solidFill>
            <a:srgbClr val="0D9488"/>
          </a:solidFill>
          <a:ln/>
        </p:spPr>
      </p:sp>
      <p:sp>
        <p:nvSpPr>
          <p:cNvPr id="15" name="Text 13"/>
          <p:cNvSpPr/>
          <p:nvPr/>
        </p:nvSpPr>
        <p:spPr>
          <a:xfrm>
            <a:off x="594360" y="233172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68680" y="233172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メール・チャット対応の半自動化</a:t>
            </a:r>
            <a:endParaRPr lang="en-US" sz="1050" dirty="0"/>
          </a:p>
        </p:txBody>
      </p:sp>
      <p:sp>
        <p:nvSpPr>
          <p:cNvPr id="17" name="Shape 15"/>
          <p:cNvSpPr/>
          <p:nvPr/>
        </p:nvSpPr>
        <p:spPr>
          <a:xfrm>
            <a:off x="457200" y="297180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8" name="Shape 16"/>
          <p:cNvSpPr/>
          <p:nvPr/>
        </p:nvSpPr>
        <p:spPr>
          <a:xfrm>
            <a:off x="457200" y="2971800"/>
            <a:ext cx="54864" cy="502920"/>
          </a:xfrm>
          <a:prstGeom prst="rect">
            <a:avLst/>
          </a:prstGeom>
          <a:solidFill>
            <a:srgbClr val="0D9488"/>
          </a:solidFill>
          <a:ln/>
        </p:spPr>
      </p:sp>
      <p:sp>
        <p:nvSpPr>
          <p:cNvPr id="19" name="Text 17"/>
          <p:cNvSpPr/>
          <p:nvPr/>
        </p:nvSpPr>
        <p:spPr>
          <a:xfrm>
            <a:off x="594360" y="297180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868680" y="297180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議事録・会議サマリーの自動生成</a:t>
            </a:r>
            <a:endParaRPr lang="en-US" sz="1050" dirty="0"/>
          </a:p>
        </p:txBody>
      </p:sp>
      <p:sp>
        <p:nvSpPr>
          <p:cNvPr id="21" name="Shape 19"/>
          <p:cNvSpPr/>
          <p:nvPr/>
        </p:nvSpPr>
        <p:spPr>
          <a:xfrm>
            <a:off x="457200" y="361188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2" name="Shape 20"/>
          <p:cNvSpPr/>
          <p:nvPr/>
        </p:nvSpPr>
        <p:spPr>
          <a:xfrm>
            <a:off x="457200" y="3611880"/>
            <a:ext cx="54864" cy="502920"/>
          </a:xfrm>
          <a:prstGeom prst="rect">
            <a:avLst/>
          </a:prstGeom>
          <a:solidFill>
            <a:srgbClr val="0D9488"/>
          </a:solidFill>
          <a:ln/>
        </p:spPr>
      </p:sp>
      <p:sp>
        <p:nvSpPr>
          <p:cNvPr id="23" name="Text 21"/>
          <p:cNvSpPr/>
          <p:nvPr/>
        </p:nvSpPr>
        <p:spPr>
          <a:xfrm>
            <a:off x="594360" y="361188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868680" y="361188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データ入力・整理・集計の自動化</a:t>
            </a:r>
            <a:endParaRPr lang="en-US" sz="1050" dirty="0"/>
          </a:p>
        </p:txBody>
      </p:sp>
      <p:sp>
        <p:nvSpPr>
          <p:cNvPr id="25" name="Shape 23"/>
          <p:cNvSpPr/>
          <p:nvPr/>
        </p:nvSpPr>
        <p:spPr>
          <a:xfrm>
            <a:off x="4754880" y="105156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6" name="Shape 24"/>
          <p:cNvSpPr/>
          <p:nvPr/>
        </p:nvSpPr>
        <p:spPr>
          <a:xfrm>
            <a:off x="4754880" y="1051560"/>
            <a:ext cx="54864" cy="502920"/>
          </a:xfrm>
          <a:prstGeom prst="rect">
            <a:avLst/>
          </a:prstGeom>
          <a:solidFill>
            <a:srgbClr val="0D9488"/>
          </a:solidFill>
          <a:ln/>
        </p:spPr>
      </p:sp>
      <p:sp>
        <p:nvSpPr>
          <p:cNvPr id="27" name="Text 25"/>
          <p:cNvSpPr/>
          <p:nvPr/>
        </p:nvSpPr>
        <p:spPr>
          <a:xfrm>
            <a:off x="4892040" y="105156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6.</a:t>
            </a:r>
            <a:endParaRPr lang="en-US" sz="1100" dirty="0"/>
          </a:p>
        </p:txBody>
      </p:sp>
      <p:sp>
        <p:nvSpPr>
          <p:cNvPr id="28" name="Text 26"/>
          <p:cNvSpPr/>
          <p:nvPr/>
        </p:nvSpPr>
        <p:spPr>
          <a:xfrm>
            <a:off x="5166360" y="105156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リサーチ業務のAI活用術</a:t>
            </a:r>
            <a:endParaRPr lang="en-US" sz="1050" dirty="0"/>
          </a:p>
        </p:txBody>
      </p:sp>
      <p:sp>
        <p:nvSpPr>
          <p:cNvPr id="29" name="Shape 27"/>
          <p:cNvSpPr/>
          <p:nvPr/>
        </p:nvSpPr>
        <p:spPr>
          <a:xfrm>
            <a:off x="4754880" y="169164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0" name="Shape 28"/>
          <p:cNvSpPr/>
          <p:nvPr/>
        </p:nvSpPr>
        <p:spPr>
          <a:xfrm>
            <a:off x="4754880" y="1691640"/>
            <a:ext cx="54864" cy="502920"/>
          </a:xfrm>
          <a:prstGeom prst="rect">
            <a:avLst/>
          </a:prstGeom>
          <a:solidFill>
            <a:srgbClr val="0D9488"/>
          </a:solidFill>
          <a:ln/>
        </p:spPr>
      </p:sp>
      <p:sp>
        <p:nvSpPr>
          <p:cNvPr id="31" name="Text 29"/>
          <p:cNvSpPr/>
          <p:nvPr/>
        </p:nvSpPr>
        <p:spPr>
          <a:xfrm>
            <a:off x="4892040" y="169164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7.</a:t>
            </a:r>
            <a:endParaRPr lang="en-US" sz="1100" dirty="0"/>
          </a:p>
        </p:txBody>
      </p:sp>
      <p:sp>
        <p:nvSpPr>
          <p:cNvPr id="32" name="Text 30"/>
          <p:cNvSpPr/>
          <p:nvPr/>
        </p:nvSpPr>
        <p:spPr>
          <a:xfrm>
            <a:off x="5166360" y="169164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ドキュメント・報告書の爆速作成</a:t>
            </a:r>
            <a:endParaRPr lang="en-US" sz="1050" dirty="0"/>
          </a:p>
        </p:txBody>
      </p:sp>
      <p:sp>
        <p:nvSpPr>
          <p:cNvPr id="33" name="Shape 31"/>
          <p:cNvSpPr/>
          <p:nvPr/>
        </p:nvSpPr>
        <p:spPr>
          <a:xfrm>
            <a:off x="4754880" y="233172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4" name="Shape 32"/>
          <p:cNvSpPr/>
          <p:nvPr/>
        </p:nvSpPr>
        <p:spPr>
          <a:xfrm>
            <a:off x="4754880" y="2331720"/>
            <a:ext cx="54864" cy="502920"/>
          </a:xfrm>
          <a:prstGeom prst="rect">
            <a:avLst/>
          </a:prstGeom>
          <a:solidFill>
            <a:srgbClr val="0D9488"/>
          </a:solidFill>
          <a:ln/>
        </p:spPr>
      </p:sp>
      <p:sp>
        <p:nvSpPr>
          <p:cNvPr id="35" name="Text 33"/>
          <p:cNvSpPr/>
          <p:nvPr/>
        </p:nvSpPr>
        <p:spPr>
          <a:xfrm>
            <a:off x="4892040" y="233172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8.</a:t>
            </a:r>
            <a:endParaRPr lang="en-US" sz="1100" dirty="0"/>
          </a:p>
        </p:txBody>
      </p:sp>
      <p:sp>
        <p:nvSpPr>
          <p:cNvPr id="36" name="Text 34"/>
          <p:cNvSpPr/>
          <p:nvPr/>
        </p:nvSpPr>
        <p:spPr>
          <a:xfrm>
            <a:off x="5166360" y="233172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スケジュール・タスク管理のAI化</a:t>
            </a:r>
            <a:endParaRPr lang="en-US" sz="1050" dirty="0"/>
          </a:p>
        </p:txBody>
      </p:sp>
      <p:sp>
        <p:nvSpPr>
          <p:cNvPr id="37" name="Shape 35"/>
          <p:cNvSpPr/>
          <p:nvPr/>
        </p:nvSpPr>
        <p:spPr>
          <a:xfrm>
            <a:off x="4754880" y="297180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8" name="Shape 36"/>
          <p:cNvSpPr/>
          <p:nvPr/>
        </p:nvSpPr>
        <p:spPr>
          <a:xfrm>
            <a:off x="4754880" y="2971800"/>
            <a:ext cx="54864" cy="502920"/>
          </a:xfrm>
          <a:prstGeom prst="rect">
            <a:avLst/>
          </a:prstGeom>
          <a:solidFill>
            <a:srgbClr val="0D9488"/>
          </a:solidFill>
          <a:ln/>
        </p:spPr>
      </p:sp>
      <p:sp>
        <p:nvSpPr>
          <p:cNvPr id="39" name="Text 37"/>
          <p:cNvSpPr/>
          <p:nvPr/>
        </p:nvSpPr>
        <p:spPr>
          <a:xfrm>
            <a:off x="4892040" y="297180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9.</a:t>
            </a:r>
            <a:endParaRPr lang="en-US" sz="1100" dirty="0"/>
          </a:p>
        </p:txBody>
      </p:sp>
      <p:sp>
        <p:nvSpPr>
          <p:cNvPr id="40" name="Text 38"/>
          <p:cNvSpPr/>
          <p:nvPr/>
        </p:nvSpPr>
        <p:spPr>
          <a:xfrm>
            <a:off x="5166360" y="297180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業務フロー分析とAI導入ポイントの特定</a:t>
            </a:r>
            <a:endParaRPr lang="en-US" sz="1050" dirty="0"/>
          </a:p>
        </p:txBody>
      </p:sp>
      <p:sp>
        <p:nvSpPr>
          <p:cNvPr id="41" name="Shape 39"/>
          <p:cNvSpPr/>
          <p:nvPr/>
        </p:nvSpPr>
        <p:spPr>
          <a:xfrm>
            <a:off x="4754880" y="361188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2" name="Shape 40"/>
          <p:cNvSpPr/>
          <p:nvPr/>
        </p:nvSpPr>
        <p:spPr>
          <a:xfrm>
            <a:off x="4754880" y="3611880"/>
            <a:ext cx="54864" cy="502920"/>
          </a:xfrm>
          <a:prstGeom prst="rect">
            <a:avLst/>
          </a:prstGeom>
          <a:solidFill>
            <a:srgbClr val="0D9488"/>
          </a:solidFill>
          <a:ln/>
        </p:spPr>
      </p:sp>
      <p:sp>
        <p:nvSpPr>
          <p:cNvPr id="43" name="Text 41"/>
          <p:cNvSpPr/>
          <p:nvPr/>
        </p:nvSpPr>
        <p:spPr>
          <a:xfrm>
            <a:off x="4892040" y="3611880"/>
            <a:ext cx="320040" cy="5029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10.</a:t>
            </a:r>
            <a:endParaRPr lang="en-US" sz="1100" dirty="0"/>
          </a:p>
        </p:txBody>
      </p:sp>
      <p:sp>
        <p:nvSpPr>
          <p:cNvPr id="44" name="Text 42"/>
          <p:cNvSpPr/>
          <p:nvPr/>
        </p:nvSpPr>
        <p:spPr>
          <a:xfrm>
            <a:off x="5166360" y="361188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AI活用マインドセット</a:t>
            </a:r>
            <a:endParaRPr lang="en-US" sz="1050" dirty="0"/>
          </a:p>
        </p:txBody>
      </p:sp>
      <p:pic>
        <p:nvPicPr>
          <p:cNvPr id="45" name="Image 0" descr="preencoded.png">    </p:cNvPr>
          <p:cNvPicPr>
            <a:picLocks noChangeAspect="1"/>
          </p:cNvPicPr>
          <p:nvPr/>
        </p:nvPicPr>
        <p:blipFill>
          <a:blip r:embed="rId1"/>
          <a:stretch>
            <a:fillRect/>
          </a:stretch>
        </p:blipFill>
        <p:spPr>
          <a:xfrm>
            <a:off x="457200" y="4434840"/>
            <a:ext cx="274320" cy="274320"/>
          </a:xfrm>
          <a:prstGeom prst="rect">
            <a:avLst/>
          </a:prstGeom>
        </p:spPr>
      </p:pic>
      <p:sp>
        <p:nvSpPr>
          <p:cNvPr id="46" name="Text 43"/>
          <p:cNvSpPr/>
          <p:nvPr/>
        </p:nvSpPr>
        <p:spPr>
          <a:xfrm>
            <a:off x="822960" y="4389120"/>
            <a:ext cx="7863840" cy="41148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受講後には、メール・議事録・データ集計・リサーチをAIで効率化し、自社業務のどこにAIを使うべきか自分で判断できるようになる。</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3" name="Shape 1"/>
          <p:cNvSpPr/>
          <p:nvPr/>
        </p:nvSpPr>
        <p:spPr>
          <a:xfrm>
            <a:off x="0" y="0"/>
            <a:ext cx="9144000" cy="822960"/>
          </a:xfrm>
          <a:prstGeom prst="rect">
            <a:avLst/>
          </a:prstGeom>
          <a:solidFill>
            <a:srgbClr val="0891B2"/>
          </a:solidFill>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Trebuchet MS" pitchFamily="34" charset="0"/>
                <a:ea typeface="Trebuchet MS" pitchFamily="34" charset="-122"/>
                <a:cs typeface="Trebuchet MS" pitchFamily="34" charset="-120"/>
              </a:rPr>
              <a:t>Pack 2：AI開発実践（全10講座）</a:t>
            </a:r>
            <a:endParaRPr lang="en-US" sz="2000" dirty="0"/>
          </a:p>
        </p:txBody>
      </p:sp>
      <p:sp>
        <p:nvSpPr>
          <p:cNvPr id="5" name="Shape 3"/>
          <p:cNvSpPr/>
          <p:nvPr/>
        </p:nvSpPr>
        <p:spPr>
          <a:xfrm>
            <a:off x="457200" y="105156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051560"/>
            <a:ext cx="54864" cy="502920"/>
          </a:xfrm>
          <a:prstGeom prst="rect">
            <a:avLst/>
          </a:prstGeom>
          <a:solidFill>
            <a:srgbClr val="0891B2"/>
          </a:solidFill>
          <a:ln/>
        </p:spPr>
      </p:sp>
      <p:sp>
        <p:nvSpPr>
          <p:cNvPr id="7" name="Text 5"/>
          <p:cNvSpPr/>
          <p:nvPr/>
        </p:nvSpPr>
        <p:spPr>
          <a:xfrm>
            <a:off x="594360" y="105156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68680" y="105156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Claude Code入門：セットアップから基本操作まで</a:t>
            </a:r>
            <a:endParaRPr lang="en-US" sz="1050" dirty="0"/>
          </a:p>
        </p:txBody>
      </p:sp>
      <p:sp>
        <p:nvSpPr>
          <p:cNvPr id="9" name="Shape 7"/>
          <p:cNvSpPr/>
          <p:nvPr/>
        </p:nvSpPr>
        <p:spPr>
          <a:xfrm>
            <a:off x="457200" y="169164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Shape 8"/>
          <p:cNvSpPr/>
          <p:nvPr/>
        </p:nvSpPr>
        <p:spPr>
          <a:xfrm>
            <a:off x="457200" y="1691640"/>
            <a:ext cx="54864" cy="502920"/>
          </a:xfrm>
          <a:prstGeom prst="rect">
            <a:avLst/>
          </a:prstGeom>
          <a:solidFill>
            <a:srgbClr val="0891B2"/>
          </a:solidFill>
          <a:ln/>
        </p:spPr>
      </p:sp>
      <p:sp>
        <p:nvSpPr>
          <p:cNvPr id="11" name="Text 9"/>
          <p:cNvSpPr/>
          <p:nvPr/>
        </p:nvSpPr>
        <p:spPr>
          <a:xfrm>
            <a:off x="594360" y="169164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868680" y="169164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Claude Codeで業務ツールを作る①：自動化スクリプト編</a:t>
            </a:r>
            <a:endParaRPr lang="en-US" sz="1050" dirty="0"/>
          </a:p>
        </p:txBody>
      </p:sp>
      <p:sp>
        <p:nvSpPr>
          <p:cNvPr id="13" name="Shape 11"/>
          <p:cNvSpPr/>
          <p:nvPr/>
        </p:nvSpPr>
        <p:spPr>
          <a:xfrm>
            <a:off x="457200" y="233172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Shape 12"/>
          <p:cNvSpPr/>
          <p:nvPr/>
        </p:nvSpPr>
        <p:spPr>
          <a:xfrm>
            <a:off x="457200" y="2331720"/>
            <a:ext cx="54864" cy="502920"/>
          </a:xfrm>
          <a:prstGeom prst="rect">
            <a:avLst/>
          </a:prstGeom>
          <a:solidFill>
            <a:srgbClr val="0891B2"/>
          </a:solidFill>
          <a:ln/>
        </p:spPr>
      </p:sp>
      <p:sp>
        <p:nvSpPr>
          <p:cNvPr id="15" name="Text 13"/>
          <p:cNvSpPr/>
          <p:nvPr/>
        </p:nvSpPr>
        <p:spPr>
          <a:xfrm>
            <a:off x="594360" y="233172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68680" y="233172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Claude Codeで業務ツールを作る②：Webアプリ編</a:t>
            </a:r>
            <a:endParaRPr lang="en-US" sz="1050" dirty="0"/>
          </a:p>
        </p:txBody>
      </p:sp>
      <p:sp>
        <p:nvSpPr>
          <p:cNvPr id="17" name="Shape 15"/>
          <p:cNvSpPr/>
          <p:nvPr/>
        </p:nvSpPr>
        <p:spPr>
          <a:xfrm>
            <a:off x="457200" y="297180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8" name="Shape 16"/>
          <p:cNvSpPr/>
          <p:nvPr/>
        </p:nvSpPr>
        <p:spPr>
          <a:xfrm>
            <a:off x="457200" y="2971800"/>
            <a:ext cx="54864" cy="502920"/>
          </a:xfrm>
          <a:prstGeom prst="rect">
            <a:avLst/>
          </a:prstGeom>
          <a:solidFill>
            <a:srgbClr val="0891B2"/>
          </a:solidFill>
          <a:ln/>
        </p:spPr>
      </p:sp>
      <p:sp>
        <p:nvSpPr>
          <p:cNvPr id="19" name="Text 17"/>
          <p:cNvSpPr/>
          <p:nvPr/>
        </p:nvSpPr>
        <p:spPr>
          <a:xfrm>
            <a:off x="594360" y="297180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868680" y="297180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Cursor入門：AI搭載エディタで開発効率10倍</a:t>
            </a:r>
            <a:endParaRPr lang="en-US" sz="1050" dirty="0"/>
          </a:p>
        </p:txBody>
      </p:sp>
      <p:sp>
        <p:nvSpPr>
          <p:cNvPr id="21" name="Shape 19"/>
          <p:cNvSpPr/>
          <p:nvPr/>
        </p:nvSpPr>
        <p:spPr>
          <a:xfrm>
            <a:off x="457200" y="361188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2" name="Shape 20"/>
          <p:cNvSpPr/>
          <p:nvPr/>
        </p:nvSpPr>
        <p:spPr>
          <a:xfrm>
            <a:off x="457200" y="3611880"/>
            <a:ext cx="54864" cy="502920"/>
          </a:xfrm>
          <a:prstGeom prst="rect">
            <a:avLst/>
          </a:prstGeom>
          <a:solidFill>
            <a:srgbClr val="0891B2"/>
          </a:solidFill>
          <a:ln/>
        </p:spPr>
      </p:sp>
      <p:sp>
        <p:nvSpPr>
          <p:cNvPr id="23" name="Text 21"/>
          <p:cNvSpPr/>
          <p:nvPr/>
        </p:nvSpPr>
        <p:spPr>
          <a:xfrm>
            <a:off x="594360" y="361188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868680" y="361188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Cursorで社内ツールを開発する</a:t>
            </a:r>
            <a:endParaRPr lang="en-US" sz="1050" dirty="0"/>
          </a:p>
        </p:txBody>
      </p:sp>
      <p:sp>
        <p:nvSpPr>
          <p:cNvPr id="25" name="Shape 23"/>
          <p:cNvSpPr/>
          <p:nvPr/>
        </p:nvSpPr>
        <p:spPr>
          <a:xfrm>
            <a:off x="4754880" y="105156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6" name="Shape 24"/>
          <p:cNvSpPr/>
          <p:nvPr/>
        </p:nvSpPr>
        <p:spPr>
          <a:xfrm>
            <a:off x="4754880" y="1051560"/>
            <a:ext cx="54864" cy="502920"/>
          </a:xfrm>
          <a:prstGeom prst="rect">
            <a:avLst/>
          </a:prstGeom>
          <a:solidFill>
            <a:srgbClr val="0891B2"/>
          </a:solidFill>
          <a:ln/>
        </p:spPr>
      </p:sp>
      <p:sp>
        <p:nvSpPr>
          <p:cNvPr id="27" name="Text 25"/>
          <p:cNvSpPr/>
          <p:nvPr/>
        </p:nvSpPr>
        <p:spPr>
          <a:xfrm>
            <a:off x="4892040" y="105156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6.</a:t>
            </a:r>
            <a:endParaRPr lang="en-US" sz="1100" dirty="0"/>
          </a:p>
        </p:txBody>
      </p:sp>
      <p:sp>
        <p:nvSpPr>
          <p:cNvPr id="28" name="Text 26"/>
          <p:cNvSpPr/>
          <p:nvPr/>
        </p:nvSpPr>
        <p:spPr>
          <a:xfrm>
            <a:off x="5166360" y="105156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OpenClaw実践：AIワークフローの構築</a:t>
            </a:r>
            <a:endParaRPr lang="en-US" sz="1050" dirty="0"/>
          </a:p>
        </p:txBody>
      </p:sp>
      <p:sp>
        <p:nvSpPr>
          <p:cNvPr id="29" name="Shape 27"/>
          <p:cNvSpPr/>
          <p:nvPr/>
        </p:nvSpPr>
        <p:spPr>
          <a:xfrm>
            <a:off x="4754880" y="169164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0" name="Shape 28"/>
          <p:cNvSpPr/>
          <p:nvPr/>
        </p:nvSpPr>
        <p:spPr>
          <a:xfrm>
            <a:off x="4754880" y="1691640"/>
            <a:ext cx="54864" cy="502920"/>
          </a:xfrm>
          <a:prstGeom prst="rect">
            <a:avLst/>
          </a:prstGeom>
          <a:solidFill>
            <a:srgbClr val="0891B2"/>
          </a:solidFill>
          <a:ln/>
        </p:spPr>
      </p:sp>
      <p:sp>
        <p:nvSpPr>
          <p:cNvPr id="31" name="Text 29"/>
          <p:cNvSpPr/>
          <p:nvPr/>
        </p:nvSpPr>
        <p:spPr>
          <a:xfrm>
            <a:off x="4892040" y="169164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7.</a:t>
            </a:r>
            <a:endParaRPr lang="en-US" sz="1100" dirty="0"/>
          </a:p>
        </p:txBody>
      </p:sp>
      <p:sp>
        <p:nvSpPr>
          <p:cNvPr id="32" name="Text 30"/>
          <p:cNvSpPr/>
          <p:nvPr/>
        </p:nvSpPr>
        <p:spPr>
          <a:xfrm>
            <a:off x="5166360" y="169164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API連携による業務自動化パイプライン構築</a:t>
            </a:r>
            <a:endParaRPr lang="en-US" sz="1050" dirty="0"/>
          </a:p>
        </p:txBody>
      </p:sp>
      <p:sp>
        <p:nvSpPr>
          <p:cNvPr id="33" name="Shape 31"/>
          <p:cNvSpPr/>
          <p:nvPr/>
        </p:nvSpPr>
        <p:spPr>
          <a:xfrm>
            <a:off x="4754880" y="233172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4" name="Shape 32"/>
          <p:cNvSpPr/>
          <p:nvPr/>
        </p:nvSpPr>
        <p:spPr>
          <a:xfrm>
            <a:off x="4754880" y="2331720"/>
            <a:ext cx="54864" cy="502920"/>
          </a:xfrm>
          <a:prstGeom prst="rect">
            <a:avLst/>
          </a:prstGeom>
          <a:solidFill>
            <a:srgbClr val="0891B2"/>
          </a:solidFill>
          <a:ln/>
        </p:spPr>
      </p:sp>
      <p:sp>
        <p:nvSpPr>
          <p:cNvPr id="35" name="Text 33"/>
          <p:cNvSpPr/>
          <p:nvPr/>
        </p:nvSpPr>
        <p:spPr>
          <a:xfrm>
            <a:off x="4892040" y="233172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8.</a:t>
            </a:r>
            <a:endParaRPr lang="en-US" sz="1100" dirty="0"/>
          </a:p>
        </p:txBody>
      </p:sp>
      <p:sp>
        <p:nvSpPr>
          <p:cNvPr id="36" name="Text 34"/>
          <p:cNvSpPr/>
          <p:nvPr/>
        </p:nvSpPr>
        <p:spPr>
          <a:xfrm>
            <a:off x="5166360" y="233172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Webスクレイピング＆データ収集の自動化</a:t>
            </a:r>
            <a:endParaRPr lang="en-US" sz="1050" dirty="0"/>
          </a:p>
        </p:txBody>
      </p:sp>
      <p:sp>
        <p:nvSpPr>
          <p:cNvPr id="37" name="Shape 35"/>
          <p:cNvSpPr/>
          <p:nvPr/>
        </p:nvSpPr>
        <p:spPr>
          <a:xfrm>
            <a:off x="4754880" y="297180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8" name="Shape 36"/>
          <p:cNvSpPr/>
          <p:nvPr/>
        </p:nvSpPr>
        <p:spPr>
          <a:xfrm>
            <a:off x="4754880" y="2971800"/>
            <a:ext cx="54864" cy="502920"/>
          </a:xfrm>
          <a:prstGeom prst="rect">
            <a:avLst/>
          </a:prstGeom>
          <a:solidFill>
            <a:srgbClr val="0891B2"/>
          </a:solidFill>
          <a:ln/>
        </p:spPr>
      </p:sp>
      <p:sp>
        <p:nvSpPr>
          <p:cNvPr id="39" name="Text 37"/>
          <p:cNvSpPr/>
          <p:nvPr/>
        </p:nvSpPr>
        <p:spPr>
          <a:xfrm>
            <a:off x="4892040" y="297180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9.</a:t>
            </a:r>
            <a:endParaRPr lang="en-US" sz="1100" dirty="0"/>
          </a:p>
        </p:txBody>
      </p:sp>
      <p:sp>
        <p:nvSpPr>
          <p:cNvPr id="40" name="Text 38"/>
          <p:cNvSpPr/>
          <p:nvPr/>
        </p:nvSpPr>
        <p:spPr>
          <a:xfrm>
            <a:off x="5166360" y="297180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ノーコード×AIで社内アプリを爆速構築</a:t>
            </a:r>
            <a:endParaRPr lang="en-US" sz="1050" dirty="0"/>
          </a:p>
        </p:txBody>
      </p:sp>
      <p:sp>
        <p:nvSpPr>
          <p:cNvPr id="41" name="Shape 39"/>
          <p:cNvSpPr/>
          <p:nvPr/>
        </p:nvSpPr>
        <p:spPr>
          <a:xfrm>
            <a:off x="4754880" y="361188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2" name="Shape 40"/>
          <p:cNvSpPr/>
          <p:nvPr/>
        </p:nvSpPr>
        <p:spPr>
          <a:xfrm>
            <a:off x="4754880" y="3611880"/>
            <a:ext cx="54864" cy="502920"/>
          </a:xfrm>
          <a:prstGeom prst="rect">
            <a:avLst/>
          </a:prstGeom>
          <a:solidFill>
            <a:srgbClr val="0891B2"/>
          </a:solidFill>
          <a:ln/>
        </p:spPr>
      </p:sp>
      <p:sp>
        <p:nvSpPr>
          <p:cNvPr id="43" name="Text 41"/>
          <p:cNvSpPr/>
          <p:nvPr/>
        </p:nvSpPr>
        <p:spPr>
          <a:xfrm>
            <a:off x="4892040" y="3611880"/>
            <a:ext cx="320040" cy="5029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10.</a:t>
            </a:r>
            <a:endParaRPr lang="en-US" sz="1100" dirty="0"/>
          </a:p>
        </p:txBody>
      </p:sp>
      <p:sp>
        <p:nvSpPr>
          <p:cNvPr id="44" name="Text 42"/>
          <p:cNvSpPr/>
          <p:nvPr/>
        </p:nvSpPr>
        <p:spPr>
          <a:xfrm>
            <a:off x="5166360" y="361188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開発プロジェクトの進め方とチーム開発の基礎</a:t>
            </a:r>
            <a:endParaRPr lang="en-US" sz="1050" dirty="0"/>
          </a:p>
        </p:txBody>
      </p:sp>
      <p:pic>
        <p:nvPicPr>
          <p:cNvPr id="45" name="Image 0" descr="preencoded.png">    </p:cNvPr>
          <p:cNvPicPr>
            <a:picLocks noChangeAspect="1"/>
          </p:cNvPicPr>
          <p:nvPr/>
        </p:nvPicPr>
        <p:blipFill>
          <a:blip r:embed="rId1"/>
          <a:stretch>
            <a:fillRect/>
          </a:stretch>
        </p:blipFill>
        <p:spPr>
          <a:xfrm>
            <a:off x="457200" y="4434840"/>
            <a:ext cx="274320" cy="274320"/>
          </a:xfrm>
          <a:prstGeom prst="rect">
            <a:avLst/>
          </a:prstGeom>
        </p:spPr>
      </p:pic>
      <p:sp>
        <p:nvSpPr>
          <p:cNvPr id="46" name="Text 43"/>
          <p:cNvSpPr/>
          <p:nvPr/>
        </p:nvSpPr>
        <p:spPr>
          <a:xfrm>
            <a:off x="822960" y="4389120"/>
            <a:ext cx="7863840" cy="41148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プログラミング未経験でも、Claude CodeやCursorで業務自動化スクリプトやWebアプリを自分で作れるようになる。</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
        <p:nvSpPr>
          <p:cNvPr id="3" name="Shape 1"/>
          <p:cNvSpPr/>
          <p:nvPr/>
        </p:nvSpPr>
        <p:spPr>
          <a:xfrm>
            <a:off x="0" y="0"/>
            <a:ext cx="9144000" cy="822960"/>
          </a:xfrm>
          <a:prstGeom prst="rect">
            <a:avLst/>
          </a:prstGeom>
          <a:solidFill>
            <a:srgbClr val="0E7490"/>
          </a:solidFill>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Trebuchet MS" pitchFamily="34" charset="0"/>
                <a:ea typeface="Trebuchet MS" pitchFamily="34" charset="-122"/>
                <a:cs typeface="Trebuchet MS" pitchFamily="34" charset="-120"/>
              </a:rPr>
              <a:t>Pack 3：AI組織導入＆マネジメント（全10講座）</a:t>
            </a:r>
            <a:endParaRPr lang="en-US" sz="2000" dirty="0"/>
          </a:p>
        </p:txBody>
      </p:sp>
      <p:sp>
        <p:nvSpPr>
          <p:cNvPr id="5" name="Shape 3"/>
          <p:cNvSpPr/>
          <p:nvPr/>
        </p:nvSpPr>
        <p:spPr>
          <a:xfrm>
            <a:off x="457200" y="105156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051560"/>
            <a:ext cx="54864" cy="502920"/>
          </a:xfrm>
          <a:prstGeom prst="rect">
            <a:avLst/>
          </a:prstGeom>
          <a:solidFill>
            <a:srgbClr val="0E7490"/>
          </a:solidFill>
          <a:ln/>
        </p:spPr>
      </p:sp>
      <p:sp>
        <p:nvSpPr>
          <p:cNvPr id="7" name="Text 5"/>
          <p:cNvSpPr/>
          <p:nvPr/>
        </p:nvSpPr>
        <p:spPr>
          <a:xfrm>
            <a:off x="594360" y="105156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68680" y="105156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AI導入戦略の立て方：経営視点のフレームワーク</a:t>
            </a:r>
            <a:endParaRPr lang="en-US" sz="1050" dirty="0"/>
          </a:p>
        </p:txBody>
      </p:sp>
      <p:sp>
        <p:nvSpPr>
          <p:cNvPr id="9" name="Shape 7"/>
          <p:cNvSpPr/>
          <p:nvPr/>
        </p:nvSpPr>
        <p:spPr>
          <a:xfrm>
            <a:off x="457200" y="169164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Shape 8"/>
          <p:cNvSpPr/>
          <p:nvPr/>
        </p:nvSpPr>
        <p:spPr>
          <a:xfrm>
            <a:off x="457200" y="1691640"/>
            <a:ext cx="54864" cy="502920"/>
          </a:xfrm>
          <a:prstGeom prst="rect">
            <a:avLst/>
          </a:prstGeom>
          <a:solidFill>
            <a:srgbClr val="0E7490"/>
          </a:solidFill>
          <a:ln/>
        </p:spPr>
      </p:sp>
      <p:sp>
        <p:nvSpPr>
          <p:cNvPr id="11" name="Text 9"/>
          <p:cNvSpPr/>
          <p:nvPr/>
        </p:nvSpPr>
        <p:spPr>
          <a:xfrm>
            <a:off x="594360" y="169164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868680" y="169164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チーム向けAI活用ルール＆ガイドライン設計</a:t>
            </a:r>
            <a:endParaRPr lang="en-US" sz="1050" dirty="0"/>
          </a:p>
        </p:txBody>
      </p:sp>
      <p:sp>
        <p:nvSpPr>
          <p:cNvPr id="13" name="Shape 11"/>
          <p:cNvSpPr/>
          <p:nvPr/>
        </p:nvSpPr>
        <p:spPr>
          <a:xfrm>
            <a:off x="457200" y="233172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Shape 12"/>
          <p:cNvSpPr/>
          <p:nvPr/>
        </p:nvSpPr>
        <p:spPr>
          <a:xfrm>
            <a:off x="457200" y="2331720"/>
            <a:ext cx="54864" cy="502920"/>
          </a:xfrm>
          <a:prstGeom prst="rect">
            <a:avLst/>
          </a:prstGeom>
          <a:solidFill>
            <a:srgbClr val="0E7490"/>
          </a:solidFill>
          <a:ln/>
        </p:spPr>
      </p:sp>
      <p:sp>
        <p:nvSpPr>
          <p:cNvPr id="15" name="Text 13"/>
          <p:cNvSpPr/>
          <p:nvPr/>
        </p:nvSpPr>
        <p:spPr>
          <a:xfrm>
            <a:off x="594360" y="233172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68680" y="233172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プロジェクト管理のAI化：Notion AI徹底活用</a:t>
            </a:r>
            <a:endParaRPr lang="en-US" sz="1050" dirty="0"/>
          </a:p>
        </p:txBody>
      </p:sp>
      <p:sp>
        <p:nvSpPr>
          <p:cNvPr id="17" name="Shape 15"/>
          <p:cNvSpPr/>
          <p:nvPr/>
        </p:nvSpPr>
        <p:spPr>
          <a:xfrm>
            <a:off x="457200" y="297180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8" name="Shape 16"/>
          <p:cNvSpPr/>
          <p:nvPr/>
        </p:nvSpPr>
        <p:spPr>
          <a:xfrm>
            <a:off x="457200" y="2971800"/>
            <a:ext cx="54864" cy="502920"/>
          </a:xfrm>
          <a:prstGeom prst="rect">
            <a:avLst/>
          </a:prstGeom>
          <a:solidFill>
            <a:srgbClr val="0E7490"/>
          </a:solidFill>
          <a:ln/>
        </p:spPr>
      </p:sp>
      <p:sp>
        <p:nvSpPr>
          <p:cNvPr id="19" name="Text 17"/>
          <p:cNvSpPr/>
          <p:nvPr/>
        </p:nvSpPr>
        <p:spPr>
          <a:xfrm>
            <a:off x="594360" y="297180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868680" y="297180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AIプロジェクトマネジメント</a:t>
            </a:r>
            <a:endParaRPr lang="en-US" sz="1050" dirty="0"/>
          </a:p>
        </p:txBody>
      </p:sp>
      <p:sp>
        <p:nvSpPr>
          <p:cNvPr id="21" name="Shape 19"/>
          <p:cNvSpPr/>
          <p:nvPr/>
        </p:nvSpPr>
        <p:spPr>
          <a:xfrm>
            <a:off x="457200" y="361188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2" name="Shape 20"/>
          <p:cNvSpPr/>
          <p:nvPr/>
        </p:nvSpPr>
        <p:spPr>
          <a:xfrm>
            <a:off x="457200" y="3611880"/>
            <a:ext cx="54864" cy="502920"/>
          </a:xfrm>
          <a:prstGeom prst="rect">
            <a:avLst/>
          </a:prstGeom>
          <a:solidFill>
            <a:srgbClr val="0E7490"/>
          </a:solidFill>
          <a:ln/>
        </p:spPr>
      </p:sp>
      <p:sp>
        <p:nvSpPr>
          <p:cNvPr id="23" name="Text 21"/>
          <p:cNvSpPr/>
          <p:nvPr/>
        </p:nvSpPr>
        <p:spPr>
          <a:xfrm>
            <a:off x="594360" y="361188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868680" y="361188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KPI管理ダッシュボードの構築</a:t>
            </a:r>
            <a:endParaRPr lang="en-US" sz="1050" dirty="0"/>
          </a:p>
        </p:txBody>
      </p:sp>
      <p:sp>
        <p:nvSpPr>
          <p:cNvPr id="25" name="Shape 23"/>
          <p:cNvSpPr/>
          <p:nvPr/>
        </p:nvSpPr>
        <p:spPr>
          <a:xfrm>
            <a:off x="4754880" y="105156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6" name="Shape 24"/>
          <p:cNvSpPr/>
          <p:nvPr/>
        </p:nvSpPr>
        <p:spPr>
          <a:xfrm>
            <a:off x="4754880" y="1051560"/>
            <a:ext cx="54864" cy="502920"/>
          </a:xfrm>
          <a:prstGeom prst="rect">
            <a:avLst/>
          </a:prstGeom>
          <a:solidFill>
            <a:srgbClr val="0E7490"/>
          </a:solidFill>
          <a:ln/>
        </p:spPr>
      </p:sp>
      <p:sp>
        <p:nvSpPr>
          <p:cNvPr id="27" name="Text 25"/>
          <p:cNvSpPr/>
          <p:nvPr/>
        </p:nvSpPr>
        <p:spPr>
          <a:xfrm>
            <a:off x="4892040" y="105156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6.</a:t>
            </a:r>
            <a:endParaRPr lang="en-US" sz="1100" dirty="0"/>
          </a:p>
        </p:txBody>
      </p:sp>
      <p:sp>
        <p:nvSpPr>
          <p:cNvPr id="28" name="Text 26"/>
          <p:cNvSpPr/>
          <p:nvPr/>
        </p:nvSpPr>
        <p:spPr>
          <a:xfrm>
            <a:off x="5166360" y="105156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AIツール選定と導入プロセス</a:t>
            </a:r>
            <a:endParaRPr lang="en-US" sz="1050" dirty="0"/>
          </a:p>
        </p:txBody>
      </p:sp>
      <p:sp>
        <p:nvSpPr>
          <p:cNvPr id="29" name="Shape 27"/>
          <p:cNvSpPr/>
          <p:nvPr/>
        </p:nvSpPr>
        <p:spPr>
          <a:xfrm>
            <a:off x="4754880" y="169164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0" name="Shape 28"/>
          <p:cNvSpPr/>
          <p:nvPr/>
        </p:nvSpPr>
        <p:spPr>
          <a:xfrm>
            <a:off x="4754880" y="1691640"/>
            <a:ext cx="54864" cy="502920"/>
          </a:xfrm>
          <a:prstGeom prst="rect">
            <a:avLst/>
          </a:prstGeom>
          <a:solidFill>
            <a:srgbClr val="0E7490"/>
          </a:solidFill>
          <a:ln/>
        </p:spPr>
      </p:sp>
      <p:sp>
        <p:nvSpPr>
          <p:cNvPr id="31" name="Text 29"/>
          <p:cNvSpPr/>
          <p:nvPr/>
        </p:nvSpPr>
        <p:spPr>
          <a:xfrm>
            <a:off x="4892040" y="169164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7.</a:t>
            </a:r>
            <a:endParaRPr lang="en-US" sz="1100" dirty="0"/>
          </a:p>
        </p:txBody>
      </p:sp>
      <p:sp>
        <p:nvSpPr>
          <p:cNvPr id="32" name="Text 30"/>
          <p:cNvSpPr/>
          <p:nvPr/>
        </p:nvSpPr>
        <p:spPr>
          <a:xfrm>
            <a:off x="5166360" y="169164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チーム評価・1on1へのAI活用</a:t>
            </a:r>
            <a:endParaRPr lang="en-US" sz="1050" dirty="0"/>
          </a:p>
        </p:txBody>
      </p:sp>
      <p:sp>
        <p:nvSpPr>
          <p:cNvPr id="33" name="Shape 31"/>
          <p:cNvSpPr/>
          <p:nvPr/>
        </p:nvSpPr>
        <p:spPr>
          <a:xfrm>
            <a:off x="4754880" y="233172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4" name="Shape 32"/>
          <p:cNvSpPr/>
          <p:nvPr/>
        </p:nvSpPr>
        <p:spPr>
          <a:xfrm>
            <a:off x="4754880" y="2331720"/>
            <a:ext cx="54864" cy="502920"/>
          </a:xfrm>
          <a:prstGeom prst="rect">
            <a:avLst/>
          </a:prstGeom>
          <a:solidFill>
            <a:srgbClr val="0E7490"/>
          </a:solidFill>
          <a:ln/>
        </p:spPr>
      </p:sp>
      <p:sp>
        <p:nvSpPr>
          <p:cNvPr id="35" name="Text 33"/>
          <p:cNvSpPr/>
          <p:nvPr/>
        </p:nvSpPr>
        <p:spPr>
          <a:xfrm>
            <a:off x="4892040" y="233172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8.</a:t>
            </a:r>
            <a:endParaRPr lang="en-US" sz="1100" dirty="0"/>
          </a:p>
        </p:txBody>
      </p:sp>
      <p:sp>
        <p:nvSpPr>
          <p:cNvPr id="36" name="Text 34"/>
          <p:cNvSpPr/>
          <p:nvPr/>
        </p:nvSpPr>
        <p:spPr>
          <a:xfrm>
            <a:off x="5166360" y="233172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部門横断のAI活用事例共有会の運営</a:t>
            </a:r>
            <a:endParaRPr lang="en-US" sz="1050" dirty="0"/>
          </a:p>
        </p:txBody>
      </p:sp>
      <p:sp>
        <p:nvSpPr>
          <p:cNvPr id="37" name="Shape 35"/>
          <p:cNvSpPr/>
          <p:nvPr/>
        </p:nvSpPr>
        <p:spPr>
          <a:xfrm>
            <a:off x="4754880" y="297180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8" name="Shape 36"/>
          <p:cNvSpPr/>
          <p:nvPr/>
        </p:nvSpPr>
        <p:spPr>
          <a:xfrm>
            <a:off x="4754880" y="2971800"/>
            <a:ext cx="54864" cy="502920"/>
          </a:xfrm>
          <a:prstGeom prst="rect">
            <a:avLst/>
          </a:prstGeom>
          <a:solidFill>
            <a:srgbClr val="0E7490"/>
          </a:solidFill>
          <a:ln/>
        </p:spPr>
      </p:sp>
      <p:sp>
        <p:nvSpPr>
          <p:cNvPr id="39" name="Text 37"/>
          <p:cNvSpPr/>
          <p:nvPr/>
        </p:nvSpPr>
        <p:spPr>
          <a:xfrm>
            <a:off x="4892040" y="297180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9.</a:t>
            </a:r>
            <a:endParaRPr lang="en-US" sz="1100" dirty="0"/>
          </a:p>
        </p:txBody>
      </p:sp>
      <p:sp>
        <p:nvSpPr>
          <p:cNvPr id="40" name="Text 38"/>
          <p:cNvSpPr/>
          <p:nvPr/>
        </p:nvSpPr>
        <p:spPr>
          <a:xfrm>
            <a:off x="5166360" y="297180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AI活用のリスク管理と倫理</a:t>
            </a:r>
            <a:endParaRPr lang="en-US" sz="1050" dirty="0"/>
          </a:p>
        </p:txBody>
      </p:sp>
      <p:sp>
        <p:nvSpPr>
          <p:cNvPr id="41" name="Shape 39"/>
          <p:cNvSpPr/>
          <p:nvPr/>
        </p:nvSpPr>
        <p:spPr>
          <a:xfrm>
            <a:off x="4754880" y="361188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2" name="Shape 40"/>
          <p:cNvSpPr/>
          <p:nvPr/>
        </p:nvSpPr>
        <p:spPr>
          <a:xfrm>
            <a:off x="4754880" y="3611880"/>
            <a:ext cx="54864" cy="502920"/>
          </a:xfrm>
          <a:prstGeom prst="rect">
            <a:avLst/>
          </a:prstGeom>
          <a:solidFill>
            <a:srgbClr val="0E7490"/>
          </a:solidFill>
          <a:ln/>
        </p:spPr>
      </p:sp>
      <p:sp>
        <p:nvSpPr>
          <p:cNvPr id="43" name="Text 41"/>
          <p:cNvSpPr/>
          <p:nvPr/>
        </p:nvSpPr>
        <p:spPr>
          <a:xfrm>
            <a:off x="4892040" y="3611880"/>
            <a:ext cx="320040" cy="502920"/>
          </a:xfrm>
          <a:prstGeom prst="rect">
            <a:avLst/>
          </a:prstGeom>
          <a:noFill/>
          <a:ln/>
        </p:spPr>
        <p:txBody>
          <a:bodyPr wrap="square"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10.</a:t>
            </a:r>
            <a:endParaRPr lang="en-US" sz="1100" dirty="0"/>
          </a:p>
        </p:txBody>
      </p:sp>
      <p:sp>
        <p:nvSpPr>
          <p:cNvPr id="44" name="Text 42"/>
          <p:cNvSpPr/>
          <p:nvPr/>
        </p:nvSpPr>
        <p:spPr>
          <a:xfrm>
            <a:off x="5166360" y="361188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AI組織文化の醸成と持続的イノベーション</a:t>
            </a:r>
            <a:endParaRPr lang="en-US" sz="1050" dirty="0"/>
          </a:p>
        </p:txBody>
      </p:sp>
      <p:pic>
        <p:nvPicPr>
          <p:cNvPr id="45" name="Image 0" descr="preencoded.png">    </p:cNvPr>
          <p:cNvPicPr>
            <a:picLocks noChangeAspect="1"/>
          </p:cNvPicPr>
          <p:nvPr/>
        </p:nvPicPr>
        <p:blipFill>
          <a:blip r:embed="rId1"/>
          <a:stretch>
            <a:fillRect/>
          </a:stretch>
        </p:blipFill>
        <p:spPr>
          <a:xfrm>
            <a:off x="457200" y="4434840"/>
            <a:ext cx="274320" cy="274320"/>
          </a:xfrm>
          <a:prstGeom prst="rect">
            <a:avLst/>
          </a:prstGeom>
        </p:spPr>
      </p:pic>
      <p:sp>
        <p:nvSpPr>
          <p:cNvPr id="46" name="Text 43"/>
          <p:cNvSpPr/>
          <p:nvPr/>
        </p:nvSpPr>
        <p:spPr>
          <a:xfrm>
            <a:off x="822960" y="4389120"/>
            <a:ext cx="7863840" cy="41148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AI導入戦略の策定、全社ガイドラインの設計、リスクマネジメントなど、管理職が組織のAI活用を意思決定する力が身につく。</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
        <p:nvSpPr>
          <p:cNvPr id="3" name="Shape 1"/>
          <p:cNvSpPr/>
          <p:nvPr/>
        </p:nvSpPr>
        <p:spPr>
          <a:xfrm>
            <a:off x="0" y="0"/>
            <a:ext cx="9144000" cy="822960"/>
          </a:xfrm>
          <a:prstGeom prst="rect">
            <a:avLst/>
          </a:prstGeom>
          <a:solidFill>
            <a:srgbClr val="155E75"/>
          </a:solidFill>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Trebuchet MS" pitchFamily="34" charset="0"/>
                <a:ea typeface="Trebuchet MS" pitchFamily="34" charset="-122"/>
                <a:cs typeface="Trebuchet MS" pitchFamily="34" charset="-120"/>
              </a:rPr>
              <a:t>Pack 4：応用＆最新AI活用（全10講座）</a:t>
            </a:r>
            <a:endParaRPr lang="en-US" sz="2000" dirty="0"/>
          </a:p>
        </p:txBody>
      </p:sp>
      <p:sp>
        <p:nvSpPr>
          <p:cNvPr id="5" name="Shape 3"/>
          <p:cNvSpPr/>
          <p:nvPr/>
        </p:nvSpPr>
        <p:spPr>
          <a:xfrm>
            <a:off x="457200" y="105156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051560"/>
            <a:ext cx="54864" cy="502920"/>
          </a:xfrm>
          <a:prstGeom prst="rect">
            <a:avLst/>
          </a:prstGeom>
          <a:solidFill>
            <a:srgbClr val="155E75"/>
          </a:solidFill>
          <a:ln/>
        </p:spPr>
      </p:sp>
      <p:sp>
        <p:nvSpPr>
          <p:cNvPr id="7" name="Text 5"/>
          <p:cNvSpPr/>
          <p:nvPr/>
        </p:nvSpPr>
        <p:spPr>
          <a:xfrm>
            <a:off x="594360" y="105156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68680" y="105156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AI×データ分析：BI＆予測モデル入門</a:t>
            </a:r>
            <a:endParaRPr lang="en-US" sz="1050" dirty="0"/>
          </a:p>
        </p:txBody>
      </p:sp>
      <p:sp>
        <p:nvSpPr>
          <p:cNvPr id="9" name="Shape 7"/>
          <p:cNvSpPr/>
          <p:nvPr/>
        </p:nvSpPr>
        <p:spPr>
          <a:xfrm>
            <a:off x="457200" y="169164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Shape 8"/>
          <p:cNvSpPr/>
          <p:nvPr/>
        </p:nvSpPr>
        <p:spPr>
          <a:xfrm>
            <a:off x="457200" y="1691640"/>
            <a:ext cx="54864" cy="502920"/>
          </a:xfrm>
          <a:prstGeom prst="rect">
            <a:avLst/>
          </a:prstGeom>
          <a:solidFill>
            <a:srgbClr val="155E75"/>
          </a:solidFill>
          <a:ln/>
        </p:spPr>
      </p:sp>
      <p:sp>
        <p:nvSpPr>
          <p:cNvPr id="11" name="Text 9"/>
          <p:cNvSpPr/>
          <p:nvPr/>
        </p:nvSpPr>
        <p:spPr>
          <a:xfrm>
            <a:off x="594360" y="169164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868680" y="169164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データ分析＆レポーティングの自動化</a:t>
            </a:r>
            <a:endParaRPr lang="en-US" sz="1050" dirty="0"/>
          </a:p>
        </p:txBody>
      </p:sp>
      <p:sp>
        <p:nvSpPr>
          <p:cNvPr id="13" name="Shape 11"/>
          <p:cNvSpPr/>
          <p:nvPr/>
        </p:nvSpPr>
        <p:spPr>
          <a:xfrm>
            <a:off x="457200" y="233172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Shape 12"/>
          <p:cNvSpPr/>
          <p:nvPr/>
        </p:nvSpPr>
        <p:spPr>
          <a:xfrm>
            <a:off x="457200" y="2331720"/>
            <a:ext cx="54864" cy="502920"/>
          </a:xfrm>
          <a:prstGeom prst="rect">
            <a:avLst/>
          </a:prstGeom>
          <a:solidFill>
            <a:srgbClr val="155E75"/>
          </a:solidFill>
          <a:ln/>
        </p:spPr>
      </p:sp>
      <p:sp>
        <p:nvSpPr>
          <p:cNvPr id="15" name="Text 13"/>
          <p:cNvSpPr/>
          <p:nvPr/>
        </p:nvSpPr>
        <p:spPr>
          <a:xfrm>
            <a:off x="594360" y="233172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68680" y="233172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AI×デザイン：画像生成＆クリエイティブ制作</a:t>
            </a:r>
            <a:endParaRPr lang="en-US" sz="1050" dirty="0"/>
          </a:p>
        </p:txBody>
      </p:sp>
      <p:sp>
        <p:nvSpPr>
          <p:cNvPr id="17" name="Shape 15"/>
          <p:cNvSpPr/>
          <p:nvPr/>
        </p:nvSpPr>
        <p:spPr>
          <a:xfrm>
            <a:off x="457200" y="297180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8" name="Shape 16"/>
          <p:cNvSpPr/>
          <p:nvPr/>
        </p:nvSpPr>
        <p:spPr>
          <a:xfrm>
            <a:off x="457200" y="2971800"/>
            <a:ext cx="54864" cy="502920"/>
          </a:xfrm>
          <a:prstGeom prst="rect">
            <a:avLst/>
          </a:prstGeom>
          <a:solidFill>
            <a:srgbClr val="155E75"/>
          </a:solidFill>
          <a:ln/>
        </p:spPr>
      </p:sp>
      <p:sp>
        <p:nvSpPr>
          <p:cNvPr id="19" name="Text 17"/>
          <p:cNvSpPr/>
          <p:nvPr/>
        </p:nvSpPr>
        <p:spPr>
          <a:xfrm>
            <a:off x="594360" y="297180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868680" y="297180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AI×マーケティング＆SNS運用</a:t>
            </a:r>
            <a:endParaRPr lang="en-US" sz="1050" dirty="0"/>
          </a:p>
        </p:txBody>
      </p:sp>
      <p:sp>
        <p:nvSpPr>
          <p:cNvPr id="21" name="Shape 19"/>
          <p:cNvSpPr/>
          <p:nvPr/>
        </p:nvSpPr>
        <p:spPr>
          <a:xfrm>
            <a:off x="457200" y="361188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2" name="Shape 20"/>
          <p:cNvSpPr/>
          <p:nvPr/>
        </p:nvSpPr>
        <p:spPr>
          <a:xfrm>
            <a:off x="457200" y="3611880"/>
            <a:ext cx="54864" cy="502920"/>
          </a:xfrm>
          <a:prstGeom prst="rect">
            <a:avLst/>
          </a:prstGeom>
          <a:solidFill>
            <a:srgbClr val="155E75"/>
          </a:solidFill>
          <a:ln/>
        </p:spPr>
      </p:sp>
      <p:sp>
        <p:nvSpPr>
          <p:cNvPr id="23" name="Text 21"/>
          <p:cNvSpPr/>
          <p:nvPr/>
        </p:nvSpPr>
        <p:spPr>
          <a:xfrm>
            <a:off x="594360" y="361188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868680" y="361188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AI×カスタマーサポート自動化</a:t>
            </a:r>
            <a:endParaRPr lang="en-US" sz="1050" dirty="0"/>
          </a:p>
        </p:txBody>
      </p:sp>
      <p:sp>
        <p:nvSpPr>
          <p:cNvPr id="25" name="Shape 23"/>
          <p:cNvSpPr/>
          <p:nvPr/>
        </p:nvSpPr>
        <p:spPr>
          <a:xfrm>
            <a:off x="4754880" y="105156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6" name="Shape 24"/>
          <p:cNvSpPr/>
          <p:nvPr/>
        </p:nvSpPr>
        <p:spPr>
          <a:xfrm>
            <a:off x="4754880" y="1051560"/>
            <a:ext cx="54864" cy="502920"/>
          </a:xfrm>
          <a:prstGeom prst="rect">
            <a:avLst/>
          </a:prstGeom>
          <a:solidFill>
            <a:srgbClr val="155E75"/>
          </a:solidFill>
          <a:ln/>
        </p:spPr>
      </p:sp>
      <p:sp>
        <p:nvSpPr>
          <p:cNvPr id="27" name="Text 25"/>
          <p:cNvSpPr/>
          <p:nvPr/>
        </p:nvSpPr>
        <p:spPr>
          <a:xfrm>
            <a:off x="4892040" y="105156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6.</a:t>
            </a:r>
            <a:endParaRPr lang="en-US" sz="1100" dirty="0"/>
          </a:p>
        </p:txBody>
      </p:sp>
      <p:sp>
        <p:nvSpPr>
          <p:cNvPr id="28" name="Text 26"/>
          <p:cNvSpPr/>
          <p:nvPr/>
        </p:nvSpPr>
        <p:spPr>
          <a:xfrm>
            <a:off x="5166360" y="105156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AI×人事・採用プロセスの効率化</a:t>
            </a:r>
            <a:endParaRPr lang="en-US" sz="1050" dirty="0"/>
          </a:p>
        </p:txBody>
      </p:sp>
      <p:sp>
        <p:nvSpPr>
          <p:cNvPr id="29" name="Shape 27"/>
          <p:cNvSpPr/>
          <p:nvPr/>
        </p:nvSpPr>
        <p:spPr>
          <a:xfrm>
            <a:off x="4754880" y="169164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0" name="Shape 28"/>
          <p:cNvSpPr/>
          <p:nvPr/>
        </p:nvSpPr>
        <p:spPr>
          <a:xfrm>
            <a:off x="4754880" y="1691640"/>
            <a:ext cx="54864" cy="502920"/>
          </a:xfrm>
          <a:prstGeom prst="rect">
            <a:avLst/>
          </a:prstGeom>
          <a:solidFill>
            <a:srgbClr val="155E75"/>
          </a:solidFill>
          <a:ln/>
        </p:spPr>
      </p:sp>
      <p:sp>
        <p:nvSpPr>
          <p:cNvPr id="31" name="Text 29"/>
          <p:cNvSpPr/>
          <p:nvPr/>
        </p:nvSpPr>
        <p:spPr>
          <a:xfrm>
            <a:off x="4892040" y="169164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7.</a:t>
            </a:r>
            <a:endParaRPr lang="en-US" sz="1100" dirty="0"/>
          </a:p>
        </p:txBody>
      </p:sp>
      <p:sp>
        <p:nvSpPr>
          <p:cNvPr id="32" name="Text 30"/>
          <p:cNvSpPr/>
          <p:nvPr/>
        </p:nvSpPr>
        <p:spPr>
          <a:xfrm>
            <a:off x="5166360" y="169164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AI×法務・コンプライアンス対応</a:t>
            </a:r>
            <a:endParaRPr lang="en-US" sz="1050" dirty="0"/>
          </a:p>
        </p:txBody>
      </p:sp>
      <p:sp>
        <p:nvSpPr>
          <p:cNvPr id="33" name="Shape 31"/>
          <p:cNvSpPr/>
          <p:nvPr/>
        </p:nvSpPr>
        <p:spPr>
          <a:xfrm>
            <a:off x="4754880" y="233172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4" name="Shape 32"/>
          <p:cNvSpPr/>
          <p:nvPr/>
        </p:nvSpPr>
        <p:spPr>
          <a:xfrm>
            <a:off x="4754880" y="2331720"/>
            <a:ext cx="54864" cy="502920"/>
          </a:xfrm>
          <a:prstGeom prst="rect">
            <a:avLst/>
          </a:prstGeom>
          <a:solidFill>
            <a:srgbClr val="155E75"/>
          </a:solidFill>
          <a:ln/>
        </p:spPr>
      </p:sp>
      <p:sp>
        <p:nvSpPr>
          <p:cNvPr id="35" name="Text 33"/>
          <p:cNvSpPr/>
          <p:nvPr/>
        </p:nvSpPr>
        <p:spPr>
          <a:xfrm>
            <a:off x="4892040" y="233172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8.</a:t>
            </a:r>
            <a:endParaRPr lang="en-US" sz="1100" dirty="0"/>
          </a:p>
        </p:txBody>
      </p:sp>
      <p:sp>
        <p:nvSpPr>
          <p:cNvPr id="36" name="Text 34"/>
          <p:cNvSpPr/>
          <p:nvPr/>
        </p:nvSpPr>
        <p:spPr>
          <a:xfrm>
            <a:off x="5166360" y="233172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AI時代のチームビルディング</a:t>
            </a:r>
            <a:endParaRPr lang="en-US" sz="1050" dirty="0"/>
          </a:p>
        </p:txBody>
      </p:sp>
      <p:sp>
        <p:nvSpPr>
          <p:cNvPr id="37" name="Shape 35"/>
          <p:cNvSpPr/>
          <p:nvPr/>
        </p:nvSpPr>
        <p:spPr>
          <a:xfrm>
            <a:off x="4754880" y="297180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8" name="Shape 36"/>
          <p:cNvSpPr/>
          <p:nvPr/>
        </p:nvSpPr>
        <p:spPr>
          <a:xfrm>
            <a:off x="4754880" y="2971800"/>
            <a:ext cx="54864" cy="502920"/>
          </a:xfrm>
          <a:prstGeom prst="rect">
            <a:avLst/>
          </a:prstGeom>
          <a:solidFill>
            <a:srgbClr val="155E75"/>
          </a:solidFill>
          <a:ln/>
        </p:spPr>
      </p:sp>
      <p:sp>
        <p:nvSpPr>
          <p:cNvPr id="39" name="Text 37"/>
          <p:cNvSpPr/>
          <p:nvPr/>
        </p:nvSpPr>
        <p:spPr>
          <a:xfrm>
            <a:off x="4892040" y="297180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9.</a:t>
            </a:r>
            <a:endParaRPr lang="en-US" sz="1100" dirty="0"/>
          </a:p>
        </p:txBody>
      </p:sp>
      <p:sp>
        <p:nvSpPr>
          <p:cNvPr id="40" name="Text 38"/>
          <p:cNvSpPr/>
          <p:nvPr/>
        </p:nvSpPr>
        <p:spPr>
          <a:xfrm>
            <a:off x="5166360" y="297180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生成AI最前線：最新トレンド＆未来予測</a:t>
            </a:r>
            <a:endParaRPr lang="en-US" sz="1050" dirty="0"/>
          </a:p>
        </p:txBody>
      </p:sp>
      <p:sp>
        <p:nvSpPr>
          <p:cNvPr id="41" name="Shape 39"/>
          <p:cNvSpPr/>
          <p:nvPr/>
        </p:nvSpPr>
        <p:spPr>
          <a:xfrm>
            <a:off x="4754880" y="3611880"/>
            <a:ext cx="4023360" cy="5029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2" name="Shape 40"/>
          <p:cNvSpPr/>
          <p:nvPr/>
        </p:nvSpPr>
        <p:spPr>
          <a:xfrm>
            <a:off x="4754880" y="3611880"/>
            <a:ext cx="54864" cy="502920"/>
          </a:xfrm>
          <a:prstGeom prst="rect">
            <a:avLst/>
          </a:prstGeom>
          <a:solidFill>
            <a:srgbClr val="155E75"/>
          </a:solidFill>
          <a:ln/>
        </p:spPr>
      </p:sp>
      <p:sp>
        <p:nvSpPr>
          <p:cNvPr id="43" name="Text 41"/>
          <p:cNvSpPr/>
          <p:nvPr/>
        </p:nvSpPr>
        <p:spPr>
          <a:xfrm>
            <a:off x="4892040" y="3611880"/>
            <a:ext cx="320040" cy="502920"/>
          </a:xfrm>
          <a:prstGeom prst="rect">
            <a:avLst/>
          </a:prstGeom>
          <a:noFill/>
          <a:ln/>
        </p:spPr>
        <p:txBody>
          <a:bodyPr wrap="square" rtlCol="0" anchor="ctr"/>
          <a:lstStyle/>
          <a:p>
            <a:pPr indent="0" marL="0">
              <a:buNone/>
            </a:pPr>
            <a:r>
              <a:rPr lang="en-US" sz="1100" b="1" dirty="0">
                <a:solidFill>
                  <a:srgbClr val="155E75"/>
                </a:solidFill>
                <a:latin typeface="Calibri" pitchFamily="34" charset="0"/>
                <a:ea typeface="Calibri" pitchFamily="34" charset="-122"/>
                <a:cs typeface="Calibri" pitchFamily="34" charset="-120"/>
              </a:rPr>
              <a:t>10.</a:t>
            </a:r>
            <a:endParaRPr lang="en-US" sz="1100" dirty="0"/>
          </a:p>
        </p:txBody>
      </p:sp>
      <p:sp>
        <p:nvSpPr>
          <p:cNvPr id="44" name="Text 42"/>
          <p:cNvSpPr/>
          <p:nvPr/>
        </p:nvSpPr>
        <p:spPr>
          <a:xfrm>
            <a:off x="5166360" y="3611880"/>
            <a:ext cx="3474720" cy="50292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総まとめ：自社AI活用ロードマップの策定</a:t>
            </a:r>
            <a:endParaRPr lang="en-US" sz="1050" dirty="0"/>
          </a:p>
        </p:txBody>
      </p:sp>
      <p:pic>
        <p:nvPicPr>
          <p:cNvPr id="45" name="Image 0" descr="preencoded.png">    </p:cNvPr>
          <p:cNvPicPr>
            <a:picLocks noChangeAspect="1"/>
          </p:cNvPicPr>
          <p:nvPr/>
        </p:nvPicPr>
        <p:blipFill>
          <a:blip r:embed="rId1"/>
          <a:stretch>
            <a:fillRect/>
          </a:stretch>
        </p:blipFill>
        <p:spPr>
          <a:xfrm>
            <a:off x="457200" y="4434840"/>
            <a:ext cx="274320" cy="274320"/>
          </a:xfrm>
          <a:prstGeom prst="rect">
            <a:avLst/>
          </a:prstGeom>
        </p:spPr>
      </p:pic>
      <p:sp>
        <p:nvSpPr>
          <p:cNvPr id="46" name="Text 43"/>
          <p:cNvSpPr/>
          <p:nvPr/>
        </p:nvSpPr>
        <p:spPr>
          <a:xfrm>
            <a:off x="822960" y="4389120"/>
            <a:ext cx="7863840" cy="41148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業種・機能別の応用力を身につけ、全40講義を統合した自社AI活用ロードマップを策定する。</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731520" y="1463040"/>
            <a:ext cx="7315200" cy="457200"/>
          </a:xfrm>
          <a:prstGeom prst="rect">
            <a:avLst/>
          </a:prstGeom>
          <a:noFill/>
          <a:ln/>
        </p:spPr>
        <p:txBody>
          <a:bodyPr wrap="square" rtlCol="0" anchor="ctr"/>
          <a:lstStyle/>
          <a:p>
            <a:pPr indent="0" marL="0">
              <a:buNone/>
            </a:pPr>
            <a:r>
              <a:rPr lang="en-US" sz="1400" b="1" spc="400" kern="0" dirty="0">
                <a:solidFill>
                  <a:srgbClr val="14B8A6"/>
                </a:solidFill>
                <a:latin typeface="Calibri" pitchFamily="34" charset="0"/>
                <a:ea typeface="Calibri" pitchFamily="34" charset="-122"/>
                <a:cs typeface="Calibri" pitchFamily="34" charset="-120"/>
              </a:rPr>
              <a:t>SECTION 04</a:t>
            </a:r>
            <a:endParaRPr lang="en-US" sz="1400" dirty="0"/>
          </a:p>
        </p:txBody>
      </p:sp>
      <p:sp>
        <p:nvSpPr>
          <p:cNvPr id="3" name="Text 1"/>
          <p:cNvSpPr/>
          <p:nvPr/>
        </p:nvSpPr>
        <p:spPr>
          <a:xfrm>
            <a:off x="731520" y="1920240"/>
            <a:ext cx="768096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助成金活用ガイド</a:t>
            </a:r>
            <a:endParaRPr lang="en-US" sz="3600" dirty="0"/>
          </a:p>
        </p:txBody>
      </p:sp>
      <p:sp>
        <p:nvSpPr>
          <p:cNvPr id="4" name="Shape 2"/>
          <p:cNvSpPr/>
          <p:nvPr/>
        </p:nvSpPr>
        <p:spPr>
          <a:xfrm>
            <a:off x="731520" y="3108960"/>
            <a:ext cx="1097280" cy="54864"/>
          </a:xfrm>
          <a:prstGeom prst="rect">
            <a:avLst/>
          </a:prstGeom>
          <a:solidFill>
            <a:srgbClr val="0D9488"/>
          </a:solidFill>
          <a:ln/>
        </p:spPr>
      </p:sp>
      <p:sp>
        <p:nvSpPr>
          <p:cNvPr id="5" name="Text 3"/>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対象となる2つの助成金コース</a:t>
            </a:r>
            <a:endParaRPr lang="en-US" sz="2200" dirty="0"/>
          </a:p>
        </p:txBody>
      </p:sp>
      <p:sp>
        <p:nvSpPr>
          <p:cNvPr id="4" name="Shape 2"/>
          <p:cNvSpPr/>
          <p:nvPr/>
        </p:nvSpPr>
        <p:spPr>
          <a:xfrm>
            <a:off x="457200" y="1005840"/>
            <a:ext cx="3931920" cy="3291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Shape 3"/>
          <p:cNvSpPr/>
          <p:nvPr/>
        </p:nvSpPr>
        <p:spPr>
          <a:xfrm>
            <a:off x="457200" y="1005840"/>
            <a:ext cx="3931920" cy="548640"/>
          </a:xfrm>
          <a:prstGeom prst="rect">
            <a:avLst/>
          </a:prstGeom>
          <a:solidFill>
            <a:srgbClr val="0D9488"/>
          </a:solidFill>
          <a:ln/>
        </p:spPr>
      </p:sp>
      <p:sp>
        <p:nvSpPr>
          <p:cNvPr id="6" name="Text 4"/>
          <p:cNvSpPr/>
          <p:nvPr/>
        </p:nvSpPr>
        <p:spPr>
          <a:xfrm>
            <a:off x="457200" y="1005840"/>
            <a:ext cx="3931920" cy="54864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① 人材育成支援コース</a:t>
            </a:r>
            <a:endParaRPr lang="en-US" sz="1400" dirty="0"/>
          </a:p>
        </p:txBody>
      </p:sp>
      <p:sp>
        <p:nvSpPr>
          <p:cNvPr id="7" name="Text 5"/>
          <p:cNvSpPr/>
          <p:nvPr/>
        </p:nvSpPr>
        <p:spPr>
          <a:xfrm>
            <a:off x="640080" y="1737360"/>
            <a:ext cx="1097280" cy="36576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経費助成</a:t>
            </a:r>
            <a:endParaRPr lang="en-US" sz="1000" dirty="0"/>
          </a:p>
        </p:txBody>
      </p:sp>
      <p:sp>
        <p:nvSpPr>
          <p:cNvPr id="8" name="Text 6"/>
          <p:cNvSpPr/>
          <p:nvPr/>
        </p:nvSpPr>
        <p:spPr>
          <a:xfrm>
            <a:off x="1828800" y="1737360"/>
            <a:ext cx="2377440" cy="36576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45〜60%</a:t>
            </a:r>
            <a:endParaRPr lang="en-US" sz="1200" dirty="0"/>
          </a:p>
        </p:txBody>
      </p:sp>
      <p:sp>
        <p:nvSpPr>
          <p:cNvPr id="9" name="Text 7"/>
          <p:cNvSpPr/>
          <p:nvPr/>
        </p:nvSpPr>
        <p:spPr>
          <a:xfrm>
            <a:off x="640080" y="2331720"/>
            <a:ext cx="1097280" cy="36576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賃金助成</a:t>
            </a:r>
            <a:endParaRPr lang="en-US" sz="1000" dirty="0"/>
          </a:p>
        </p:txBody>
      </p:sp>
      <p:sp>
        <p:nvSpPr>
          <p:cNvPr id="10" name="Text 8"/>
          <p:cNvSpPr/>
          <p:nvPr/>
        </p:nvSpPr>
        <p:spPr>
          <a:xfrm>
            <a:off x="1828800" y="2331720"/>
            <a:ext cx="2377440" cy="36576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760円/時間</a:t>
            </a:r>
            <a:endParaRPr lang="en-US" sz="1200" dirty="0"/>
          </a:p>
        </p:txBody>
      </p:sp>
      <p:sp>
        <p:nvSpPr>
          <p:cNvPr id="11" name="Text 9"/>
          <p:cNvSpPr/>
          <p:nvPr/>
        </p:nvSpPr>
        <p:spPr>
          <a:xfrm>
            <a:off x="640080" y="2926080"/>
            <a:ext cx="1097280" cy="36576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要件</a:t>
            </a:r>
            <a:endParaRPr lang="en-US" sz="1000" dirty="0"/>
          </a:p>
        </p:txBody>
      </p:sp>
      <p:sp>
        <p:nvSpPr>
          <p:cNvPr id="12" name="Text 10"/>
          <p:cNvSpPr/>
          <p:nvPr/>
        </p:nvSpPr>
        <p:spPr>
          <a:xfrm>
            <a:off x="1828800" y="2926080"/>
            <a:ext cx="2377440" cy="36576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10時間以上のOFF-JT</a:t>
            </a:r>
            <a:endParaRPr lang="en-US" sz="1200" dirty="0"/>
          </a:p>
        </p:txBody>
      </p:sp>
      <p:sp>
        <p:nvSpPr>
          <p:cNvPr id="13" name="Text 11"/>
          <p:cNvSpPr/>
          <p:nvPr/>
        </p:nvSpPr>
        <p:spPr>
          <a:xfrm>
            <a:off x="640080" y="3520440"/>
            <a:ext cx="1097280" cy="36576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適合研修</a:t>
            </a:r>
            <a:endParaRPr lang="en-US" sz="1000" dirty="0"/>
          </a:p>
        </p:txBody>
      </p:sp>
      <p:sp>
        <p:nvSpPr>
          <p:cNvPr id="14" name="Text 12"/>
          <p:cNvSpPr/>
          <p:nvPr/>
        </p:nvSpPr>
        <p:spPr>
          <a:xfrm>
            <a:off x="1828800" y="3520440"/>
            <a:ext cx="2377440" cy="36576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Pack 1〜4（各パック）</a:t>
            </a:r>
            <a:endParaRPr lang="en-US" sz="1200" dirty="0"/>
          </a:p>
        </p:txBody>
      </p:sp>
      <p:sp>
        <p:nvSpPr>
          <p:cNvPr id="15" name="Text 13"/>
          <p:cNvSpPr/>
          <p:nvPr/>
        </p:nvSpPr>
        <p:spPr>
          <a:xfrm>
            <a:off x="640080" y="3657600"/>
            <a:ext cx="3474720" cy="502920"/>
          </a:xfrm>
          <a:prstGeom prst="rect">
            <a:avLst/>
          </a:prstGeom>
          <a:noFill/>
          <a:ln/>
        </p:spPr>
        <p:txBody>
          <a:bodyPr wrap="square" rtlCol="0" anchor="ctr"/>
          <a:lstStyle/>
          <a:p>
            <a:pPr indent="0" marL="0">
              <a:lnSpc>
                <a:spcPct val="130000"/>
              </a:lnSpc>
              <a:buNone/>
            </a:pPr>
            <a:r>
              <a:rPr lang="en-US" sz="1000" dirty="0">
                <a:solidFill>
                  <a:srgbClr val="0D9488"/>
                </a:solidFill>
                <a:latin typeface="Calibri" pitchFamily="34" charset="0"/>
                <a:ea typeface="Calibri" pitchFamily="34" charset="-122"/>
                <a:cs typeface="Calibri" pitchFamily="34" charset="-120"/>
              </a:rPr>
              <a:t>全社員向け基礎研修として</a:t>
            </a:r>
            <a:endParaRPr lang="en-US" sz="1000" dirty="0"/>
          </a:p>
          <a:p>
            <a:pPr indent="0" marL="0">
              <a:lnSpc>
                <a:spcPct val="130000"/>
              </a:lnSpc>
              <a:buNone/>
            </a:pPr>
            <a:r>
              <a:rPr lang="en-US" sz="1000" dirty="0">
                <a:solidFill>
                  <a:srgbClr val="0D9488"/>
                </a:solidFill>
                <a:latin typeface="Calibri" pitchFamily="34" charset="0"/>
                <a:ea typeface="Calibri" pitchFamily="34" charset="-122"/>
                <a:cs typeface="Calibri" pitchFamily="34" charset="-120"/>
              </a:rPr>
              <a:t>最も申請しやすい</a:t>
            </a:r>
            <a:endParaRPr lang="en-US" sz="1000" dirty="0"/>
          </a:p>
        </p:txBody>
      </p:sp>
      <p:sp>
        <p:nvSpPr>
          <p:cNvPr id="16" name="Shape 14"/>
          <p:cNvSpPr/>
          <p:nvPr/>
        </p:nvSpPr>
        <p:spPr>
          <a:xfrm>
            <a:off x="4754880" y="1005840"/>
            <a:ext cx="3931920" cy="3291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7" name="Shape 15"/>
          <p:cNvSpPr/>
          <p:nvPr/>
        </p:nvSpPr>
        <p:spPr>
          <a:xfrm>
            <a:off x="4754880" y="1005840"/>
            <a:ext cx="3931920" cy="548640"/>
          </a:xfrm>
          <a:prstGeom prst="rect">
            <a:avLst/>
          </a:prstGeom>
          <a:solidFill>
            <a:srgbClr val="155E75"/>
          </a:solidFill>
          <a:ln/>
        </p:spPr>
      </p:sp>
      <p:sp>
        <p:nvSpPr>
          <p:cNvPr id="18" name="Text 16"/>
          <p:cNvSpPr/>
          <p:nvPr/>
        </p:nvSpPr>
        <p:spPr>
          <a:xfrm>
            <a:off x="4754880" y="1005840"/>
            <a:ext cx="3931920" cy="54864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② 人への投資促進コース</a:t>
            </a:r>
            <a:endParaRPr lang="en-US" sz="1400" dirty="0"/>
          </a:p>
        </p:txBody>
      </p:sp>
      <p:sp>
        <p:nvSpPr>
          <p:cNvPr id="19" name="Text 17"/>
          <p:cNvSpPr/>
          <p:nvPr/>
        </p:nvSpPr>
        <p:spPr>
          <a:xfrm>
            <a:off x="4754880" y="1554480"/>
            <a:ext cx="393192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高度デジタル人材訓練</a:t>
            </a:r>
            <a:endParaRPr lang="en-US" sz="900" dirty="0"/>
          </a:p>
        </p:txBody>
      </p:sp>
      <p:sp>
        <p:nvSpPr>
          <p:cNvPr id="20" name="Text 18"/>
          <p:cNvSpPr/>
          <p:nvPr/>
        </p:nvSpPr>
        <p:spPr>
          <a:xfrm>
            <a:off x="4937760" y="1920240"/>
            <a:ext cx="1097280" cy="36576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経費助成</a:t>
            </a:r>
            <a:endParaRPr lang="en-US" sz="1000" dirty="0"/>
          </a:p>
        </p:txBody>
      </p:sp>
      <p:sp>
        <p:nvSpPr>
          <p:cNvPr id="21" name="Text 19"/>
          <p:cNvSpPr/>
          <p:nvPr/>
        </p:nvSpPr>
        <p:spPr>
          <a:xfrm>
            <a:off x="6126480" y="1920240"/>
            <a:ext cx="2377440" cy="36576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75%（①の約1.7倍）</a:t>
            </a:r>
            <a:endParaRPr lang="en-US" sz="1200" dirty="0"/>
          </a:p>
        </p:txBody>
      </p:sp>
      <p:sp>
        <p:nvSpPr>
          <p:cNvPr id="22" name="Text 20"/>
          <p:cNvSpPr/>
          <p:nvPr/>
        </p:nvSpPr>
        <p:spPr>
          <a:xfrm>
            <a:off x="4937760" y="2468880"/>
            <a:ext cx="1097280" cy="36576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賃金助成</a:t>
            </a:r>
            <a:endParaRPr lang="en-US" sz="1000" dirty="0"/>
          </a:p>
        </p:txBody>
      </p:sp>
      <p:sp>
        <p:nvSpPr>
          <p:cNvPr id="23" name="Text 21"/>
          <p:cNvSpPr/>
          <p:nvPr/>
        </p:nvSpPr>
        <p:spPr>
          <a:xfrm>
            <a:off x="6126480" y="2468880"/>
            <a:ext cx="2377440" cy="36576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960円/時間</a:t>
            </a:r>
            <a:endParaRPr lang="en-US" sz="1200" dirty="0"/>
          </a:p>
        </p:txBody>
      </p:sp>
      <p:sp>
        <p:nvSpPr>
          <p:cNvPr id="24" name="Text 22"/>
          <p:cNvSpPr/>
          <p:nvPr/>
        </p:nvSpPr>
        <p:spPr>
          <a:xfrm>
            <a:off x="4937760" y="3017520"/>
            <a:ext cx="1097280" cy="36576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要件</a:t>
            </a:r>
            <a:endParaRPr lang="en-US" sz="1000" dirty="0"/>
          </a:p>
        </p:txBody>
      </p:sp>
      <p:sp>
        <p:nvSpPr>
          <p:cNvPr id="25" name="Text 23"/>
          <p:cNvSpPr/>
          <p:nvPr/>
        </p:nvSpPr>
        <p:spPr>
          <a:xfrm>
            <a:off x="6126480" y="3017520"/>
            <a:ext cx="2377440" cy="36576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10h以上+高度デジタル技術</a:t>
            </a:r>
            <a:endParaRPr lang="en-US" sz="1200" dirty="0"/>
          </a:p>
        </p:txBody>
      </p:sp>
      <p:sp>
        <p:nvSpPr>
          <p:cNvPr id="26" name="Text 24"/>
          <p:cNvSpPr/>
          <p:nvPr/>
        </p:nvSpPr>
        <p:spPr>
          <a:xfrm>
            <a:off x="4937760" y="3566160"/>
            <a:ext cx="1097280" cy="36576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適合研修</a:t>
            </a:r>
            <a:endParaRPr lang="en-US" sz="1000" dirty="0"/>
          </a:p>
        </p:txBody>
      </p:sp>
      <p:sp>
        <p:nvSpPr>
          <p:cNvPr id="27" name="Text 25"/>
          <p:cNvSpPr/>
          <p:nvPr/>
        </p:nvSpPr>
        <p:spPr>
          <a:xfrm>
            <a:off x="6126480" y="3566160"/>
            <a:ext cx="2377440" cy="36576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Pack 2 + Pack 3</a:t>
            </a:r>
            <a:endParaRPr lang="en-US" sz="1200" dirty="0"/>
          </a:p>
        </p:txBody>
      </p:sp>
      <p:sp>
        <p:nvSpPr>
          <p:cNvPr id="28" name="Text 26"/>
          <p:cNvSpPr/>
          <p:nvPr/>
        </p:nvSpPr>
        <p:spPr>
          <a:xfrm>
            <a:off x="4937760" y="3657600"/>
            <a:ext cx="3474720" cy="502920"/>
          </a:xfrm>
          <a:prstGeom prst="rect">
            <a:avLst/>
          </a:prstGeom>
          <a:noFill/>
          <a:ln/>
        </p:spPr>
        <p:txBody>
          <a:bodyPr wrap="square" rtlCol="0" anchor="ctr"/>
          <a:lstStyle/>
          <a:p>
            <a:pPr indent="0" marL="0">
              <a:lnSpc>
                <a:spcPct val="130000"/>
              </a:lnSpc>
              <a:buNone/>
            </a:pPr>
            <a:r>
              <a:rPr lang="en-US" sz="1000" b="1" dirty="0">
                <a:solidFill>
                  <a:srgbClr val="155E75"/>
                </a:solidFill>
                <a:latin typeface="Calibri" pitchFamily="34" charset="0"/>
                <a:ea typeface="Calibri" pitchFamily="34" charset="-122"/>
                <a:cs typeface="Calibri" pitchFamily="34" charset="-120"/>
              </a:rPr>
              <a:t>対象企業には②での申請を</a:t>
            </a:r>
            <a:endParaRPr lang="en-US" sz="1000" dirty="0"/>
          </a:p>
          <a:p>
            <a:pPr indent="0" marL="0">
              <a:lnSpc>
                <a:spcPct val="130000"/>
              </a:lnSpc>
              <a:buNone/>
            </a:pPr>
            <a:r>
              <a:rPr lang="en-US" sz="1000" b="1" dirty="0">
                <a:solidFill>
                  <a:srgbClr val="155E75"/>
                </a:solidFill>
                <a:latin typeface="Calibri" pitchFamily="34" charset="0"/>
                <a:ea typeface="Calibri" pitchFamily="34" charset="-122"/>
                <a:cs typeface="Calibri" pitchFamily="34" charset="-120"/>
              </a:rPr>
              <a:t>積極的に提案する</a:t>
            </a:r>
            <a:endParaRPr lang="en-US" sz="1000" dirty="0"/>
          </a:p>
        </p:txBody>
      </p:sp>
      <p:sp>
        <p:nvSpPr>
          <p:cNvPr id="29" name="Text 27"/>
          <p:cNvSpPr/>
          <p:nvPr/>
        </p:nvSpPr>
        <p:spPr>
          <a:xfrm>
            <a:off x="457200" y="4572000"/>
            <a:ext cx="822960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訓練開始の1ヶ月前までに計画届の提出が必要。早めのご相談を推奨。</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731520" y="1463040"/>
            <a:ext cx="7315200" cy="457200"/>
          </a:xfrm>
          <a:prstGeom prst="rect">
            <a:avLst/>
          </a:prstGeom>
          <a:noFill/>
          <a:ln/>
        </p:spPr>
        <p:txBody>
          <a:bodyPr wrap="square" rtlCol="0" anchor="ctr"/>
          <a:lstStyle/>
          <a:p>
            <a:pPr indent="0" marL="0">
              <a:buNone/>
            </a:pPr>
            <a:r>
              <a:rPr lang="en-US" sz="1400" b="1" spc="400" kern="0" dirty="0">
                <a:solidFill>
                  <a:srgbClr val="14B8A6"/>
                </a:solidFill>
                <a:latin typeface="Calibri" pitchFamily="34" charset="0"/>
                <a:ea typeface="Calibri" pitchFamily="34" charset="-122"/>
                <a:cs typeface="Calibri" pitchFamily="34" charset="-120"/>
              </a:rPr>
              <a:t>SECTION 05</a:t>
            </a:r>
            <a:endParaRPr lang="en-US" sz="1400" dirty="0"/>
          </a:p>
        </p:txBody>
      </p:sp>
      <p:sp>
        <p:nvSpPr>
          <p:cNvPr id="3" name="Text 1"/>
          <p:cNvSpPr/>
          <p:nvPr/>
        </p:nvSpPr>
        <p:spPr>
          <a:xfrm>
            <a:off x="731520" y="1920240"/>
            <a:ext cx="768096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PHASE 2</a:t>
            </a:r>
            <a:endParaRPr lang="en-US" sz="3600" dirty="0"/>
          </a:p>
          <a:p>
            <a:pPr indent="0" marL="0">
              <a:buNone/>
            </a:pPr>
            <a:r>
              <a:rPr lang="en-US" sz="3600" b="1" dirty="0">
                <a:solidFill>
                  <a:srgbClr val="FFFFFF"/>
                </a:solidFill>
                <a:latin typeface="Trebuchet MS" pitchFamily="34" charset="0"/>
                <a:ea typeface="Trebuchet MS" pitchFamily="34" charset="-122"/>
                <a:cs typeface="Trebuchet MS" pitchFamily="34" charset="-120"/>
              </a:rPr>
              <a:t>チームの業務自動化（伴走支援）</a:t>
            </a:r>
            <a:endParaRPr lang="en-US" sz="3600" dirty="0"/>
          </a:p>
        </p:txBody>
      </p:sp>
      <p:sp>
        <p:nvSpPr>
          <p:cNvPr id="4" name="Shape 2"/>
          <p:cNvSpPr/>
          <p:nvPr/>
        </p:nvSpPr>
        <p:spPr>
          <a:xfrm>
            <a:off x="731520" y="3108960"/>
            <a:ext cx="1097280" cy="54864"/>
          </a:xfrm>
          <a:prstGeom prst="rect">
            <a:avLst/>
          </a:prstGeom>
          <a:solidFill>
            <a:srgbClr val="0D9488"/>
          </a:solidFill>
          <a:ln/>
        </p:spPr>
      </p:sp>
      <p:sp>
        <p:nvSpPr>
          <p:cNvPr id="5" name="Text 3"/>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伴走支援で取り組むこと</a:t>
            </a:r>
            <a:endParaRPr lang="en-US" sz="2200" dirty="0"/>
          </a:p>
        </p:txBody>
      </p:sp>
      <p:sp>
        <p:nvSpPr>
          <p:cNvPr id="4" name="Text 2"/>
          <p:cNvSpPr/>
          <p:nvPr/>
        </p:nvSpPr>
        <p:spPr>
          <a:xfrm>
            <a:off x="457200" y="777240"/>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研修で身につけた「個人のスキル」を「チームの成果」に転換する。</a:t>
            </a:r>
            <a:endParaRPr lang="en-US" sz="1200" dirty="0"/>
          </a:p>
        </p:txBody>
      </p:sp>
      <p:sp>
        <p:nvSpPr>
          <p:cNvPr id="5" name="Shape 3"/>
          <p:cNvSpPr/>
          <p:nvPr/>
        </p:nvSpPr>
        <p:spPr>
          <a:xfrm>
            <a:off x="457200" y="1280160"/>
            <a:ext cx="822960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685800" y="1463040"/>
            <a:ext cx="640080" cy="640080"/>
          </a:xfrm>
          <a:prstGeom prst="ellipse">
            <a:avLst/>
          </a:prstGeom>
          <a:solidFill>
            <a:srgbClr val="F0FDFA"/>
          </a:solidFill>
          <a:ln/>
        </p:spPr>
      </p:sp>
      <p:pic>
        <p:nvPicPr>
          <p:cNvPr id="7" name="Image 0" descr="preencoded.png">    </p:cNvPr>
          <p:cNvPicPr>
            <a:picLocks noChangeAspect="1"/>
          </p:cNvPicPr>
          <p:nvPr/>
        </p:nvPicPr>
        <p:blipFill>
          <a:blip r:embed="rId1"/>
          <a:stretch>
            <a:fillRect/>
          </a:stretch>
        </p:blipFill>
        <p:spPr>
          <a:xfrm>
            <a:off x="804672" y="1581912"/>
            <a:ext cx="411480" cy="411480"/>
          </a:xfrm>
          <a:prstGeom prst="rect">
            <a:avLst/>
          </a:prstGeom>
        </p:spPr>
      </p:pic>
      <p:sp>
        <p:nvSpPr>
          <p:cNvPr id="8" name="Text 5"/>
          <p:cNvSpPr/>
          <p:nvPr/>
        </p:nvSpPr>
        <p:spPr>
          <a:xfrm>
            <a:off x="1554480" y="1325880"/>
            <a:ext cx="2743200" cy="960120"/>
          </a:xfrm>
          <a:prstGeom prst="rect">
            <a:avLst/>
          </a:prstGeom>
          <a:noFill/>
          <a:ln/>
        </p:spPr>
        <p:txBody>
          <a:bodyPr wrap="square"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業務フローの棚卸しと</a:t>
            </a:r>
            <a:endParaRPr lang="en-US" sz="1300" dirty="0"/>
          </a:p>
          <a:p>
            <a:pPr indent="0" marL="0">
              <a:buNone/>
            </a:pPr>
            <a:r>
              <a:rPr lang="en-US" sz="1300" b="1" dirty="0">
                <a:solidFill>
                  <a:srgbClr val="1E293B"/>
                </a:solidFill>
                <a:latin typeface="Trebuchet MS" pitchFamily="34" charset="0"/>
                <a:ea typeface="Trebuchet MS" pitchFamily="34" charset="-122"/>
                <a:cs typeface="Trebuchet MS" pitchFamily="34" charset="-120"/>
              </a:rPr>
              <a:t>AI導入ポイントの特定</a:t>
            </a:r>
            <a:endParaRPr lang="en-US" sz="1300" dirty="0"/>
          </a:p>
        </p:txBody>
      </p:sp>
      <p:sp>
        <p:nvSpPr>
          <p:cNvPr id="9" name="Text 6"/>
          <p:cNvSpPr/>
          <p:nvPr/>
        </p:nvSpPr>
        <p:spPr>
          <a:xfrm>
            <a:off x="4389120" y="1325880"/>
            <a:ext cx="4114800" cy="960120"/>
          </a:xfrm>
          <a:prstGeom prst="rect">
            <a:avLst/>
          </a:prstGeom>
          <a:noFill/>
          <a:ln/>
        </p:spPr>
        <p:txBody>
          <a:bodyPr wrap="square"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チームの業務を可視化し、AI導入で最も効果が出るポイントを見極める。具体的な業務単位で目標を設定。</a:t>
            </a:r>
            <a:endParaRPr lang="en-US" sz="1100" dirty="0"/>
          </a:p>
        </p:txBody>
      </p:sp>
      <p:sp>
        <p:nvSpPr>
          <p:cNvPr id="10" name="Shape 7"/>
          <p:cNvSpPr/>
          <p:nvPr/>
        </p:nvSpPr>
        <p:spPr>
          <a:xfrm>
            <a:off x="457200" y="2514600"/>
            <a:ext cx="822960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1" name="Shape 8"/>
          <p:cNvSpPr/>
          <p:nvPr/>
        </p:nvSpPr>
        <p:spPr>
          <a:xfrm>
            <a:off x="685800" y="2697480"/>
            <a:ext cx="640080" cy="640080"/>
          </a:xfrm>
          <a:prstGeom prst="ellipse">
            <a:avLst/>
          </a:prstGeom>
          <a:solidFill>
            <a:srgbClr val="F0FDFA"/>
          </a:solidFill>
          <a:ln/>
        </p:spPr>
      </p:sp>
      <p:pic>
        <p:nvPicPr>
          <p:cNvPr id="12" name="Image 1" descr="preencoded.png">    </p:cNvPr>
          <p:cNvPicPr>
            <a:picLocks noChangeAspect="1"/>
          </p:cNvPicPr>
          <p:nvPr/>
        </p:nvPicPr>
        <p:blipFill>
          <a:blip r:embed="rId2"/>
          <a:stretch>
            <a:fillRect/>
          </a:stretch>
        </p:blipFill>
        <p:spPr>
          <a:xfrm>
            <a:off x="804672" y="2816352"/>
            <a:ext cx="411480" cy="411480"/>
          </a:xfrm>
          <a:prstGeom prst="rect">
            <a:avLst/>
          </a:prstGeom>
        </p:spPr>
      </p:pic>
      <p:sp>
        <p:nvSpPr>
          <p:cNvPr id="13" name="Text 9"/>
          <p:cNvSpPr/>
          <p:nvPr/>
        </p:nvSpPr>
        <p:spPr>
          <a:xfrm>
            <a:off x="1554480" y="2560320"/>
            <a:ext cx="2743200" cy="960120"/>
          </a:xfrm>
          <a:prstGeom prst="rect">
            <a:avLst/>
          </a:prstGeom>
          <a:noFill/>
          <a:ln/>
        </p:spPr>
        <p:txBody>
          <a:bodyPr wrap="square"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Quick Winの創出</a:t>
            </a:r>
            <a:endParaRPr lang="en-US" sz="1300" dirty="0"/>
          </a:p>
        </p:txBody>
      </p:sp>
      <p:sp>
        <p:nvSpPr>
          <p:cNvPr id="14" name="Text 10"/>
          <p:cNvSpPr/>
          <p:nvPr/>
        </p:nvSpPr>
        <p:spPr>
          <a:xfrm>
            <a:off x="4389120" y="2560320"/>
            <a:ext cx="4114800" cy="960120"/>
          </a:xfrm>
          <a:prstGeom prst="rect">
            <a:avLst/>
          </a:prstGeom>
          <a:noFill/>
          <a:ln/>
        </p:spPr>
        <p:txBody>
          <a:bodyPr wrap="square"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議事録自動要約、FAQチャットボット、定型メール自動生成など、1〜2週間で効果を実感できる施策から着手。</a:t>
            </a:r>
            <a:endParaRPr lang="en-US" sz="1100" dirty="0"/>
          </a:p>
        </p:txBody>
      </p:sp>
      <p:sp>
        <p:nvSpPr>
          <p:cNvPr id="15" name="Shape 11"/>
          <p:cNvSpPr/>
          <p:nvPr/>
        </p:nvSpPr>
        <p:spPr>
          <a:xfrm>
            <a:off x="457200" y="3749040"/>
            <a:ext cx="822960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Shape 12"/>
          <p:cNvSpPr/>
          <p:nvPr/>
        </p:nvSpPr>
        <p:spPr>
          <a:xfrm>
            <a:off x="685800" y="3931920"/>
            <a:ext cx="640080" cy="640080"/>
          </a:xfrm>
          <a:prstGeom prst="ellipse">
            <a:avLst/>
          </a:prstGeom>
          <a:solidFill>
            <a:srgbClr val="F0FDFA"/>
          </a:solidFill>
          <a:ln/>
        </p:spPr>
      </p:sp>
      <p:pic>
        <p:nvPicPr>
          <p:cNvPr id="17" name="Image 2" descr="preencoded.png">    </p:cNvPr>
          <p:cNvPicPr>
            <a:picLocks noChangeAspect="1"/>
          </p:cNvPicPr>
          <p:nvPr/>
        </p:nvPicPr>
        <p:blipFill>
          <a:blip r:embed="rId3"/>
          <a:stretch>
            <a:fillRect/>
          </a:stretch>
        </p:blipFill>
        <p:spPr>
          <a:xfrm>
            <a:off x="804672" y="4050792"/>
            <a:ext cx="411480" cy="411480"/>
          </a:xfrm>
          <a:prstGeom prst="rect">
            <a:avLst/>
          </a:prstGeom>
        </p:spPr>
      </p:pic>
      <p:sp>
        <p:nvSpPr>
          <p:cNvPr id="18" name="Text 13"/>
          <p:cNvSpPr/>
          <p:nvPr/>
        </p:nvSpPr>
        <p:spPr>
          <a:xfrm>
            <a:off x="1554480" y="3794760"/>
            <a:ext cx="2743200" cy="960120"/>
          </a:xfrm>
          <a:prstGeom prst="rect">
            <a:avLst/>
          </a:prstGeom>
          <a:noFill/>
          <a:ln/>
        </p:spPr>
        <p:txBody>
          <a:bodyPr wrap="square"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定着までの伴走</a:t>
            </a:r>
            <a:endParaRPr lang="en-US" sz="1300" dirty="0"/>
          </a:p>
        </p:txBody>
      </p:sp>
      <p:sp>
        <p:nvSpPr>
          <p:cNvPr id="19" name="Text 14"/>
          <p:cNvSpPr/>
          <p:nvPr/>
        </p:nvSpPr>
        <p:spPr>
          <a:xfrm>
            <a:off x="4389120" y="3794760"/>
            <a:ext cx="4114800" cy="960120"/>
          </a:xfrm>
          <a:prstGeom prst="rect">
            <a:avLst/>
          </a:prstGeom>
          <a:noFill/>
          <a:ln/>
        </p:spPr>
        <p:txBody>
          <a:bodyPr wrap="square"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疑問への回答、新ユースケースの提案、効果測定と改善を継続。POST CABINETSなしでもAI活用が回り続ける状態がゴール。</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月次の進め方（標準例）</a:t>
            </a:r>
            <a:endParaRPr lang="en-US" sz="2200" dirty="0"/>
          </a:p>
        </p:txBody>
      </p:sp>
      <p:sp>
        <p:nvSpPr>
          <p:cNvPr id="4" name="Shape 2"/>
          <p:cNvSpPr/>
          <p:nvPr/>
        </p:nvSpPr>
        <p:spPr>
          <a:xfrm>
            <a:off x="274320" y="1097280"/>
            <a:ext cx="2011680" cy="34747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Shape 3"/>
          <p:cNvSpPr/>
          <p:nvPr/>
        </p:nvSpPr>
        <p:spPr>
          <a:xfrm>
            <a:off x="914400" y="1325880"/>
            <a:ext cx="731520" cy="731520"/>
          </a:xfrm>
          <a:prstGeom prst="ellipse">
            <a:avLst/>
          </a:prstGeom>
          <a:solidFill>
            <a:srgbClr val="0D9488"/>
          </a:solidFill>
          <a:ln/>
        </p:spPr>
      </p:sp>
      <p:sp>
        <p:nvSpPr>
          <p:cNvPr id="6" name="Text 4"/>
          <p:cNvSpPr/>
          <p:nvPr/>
        </p:nvSpPr>
        <p:spPr>
          <a:xfrm>
            <a:off x="914400" y="1325880"/>
            <a:ext cx="731520" cy="73152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1</a:t>
            </a:r>
            <a:endParaRPr lang="en-US" sz="2400" dirty="0"/>
          </a:p>
        </p:txBody>
      </p:sp>
      <p:sp>
        <p:nvSpPr>
          <p:cNvPr id="7" name="Text 5"/>
          <p:cNvSpPr/>
          <p:nvPr/>
        </p:nvSpPr>
        <p:spPr>
          <a:xfrm>
            <a:off x="365760" y="2148840"/>
            <a:ext cx="18288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第1週</a:t>
            </a:r>
            <a:endParaRPr lang="en-US" sz="900" dirty="0"/>
          </a:p>
        </p:txBody>
      </p:sp>
      <p:sp>
        <p:nvSpPr>
          <p:cNvPr id="8" name="Text 6"/>
          <p:cNvSpPr/>
          <p:nvPr/>
        </p:nvSpPr>
        <p:spPr>
          <a:xfrm>
            <a:off x="365760" y="2423160"/>
            <a:ext cx="1828800" cy="411480"/>
          </a:xfrm>
          <a:prstGeom prst="rect">
            <a:avLst/>
          </a:prstGeom>
          <a:noFill/>
          <a:ln/>
        </p:spPr>
        <p:txBody>
          <a:bodyPr wrap="square" rtlCol="0" anchor="ctr"/>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月初キックオフ</a:t>
            </a:r>
            <a:endParaRPr lang="en-US" sz="1200" dirty="0"/>
          </a:p>
        </p:txBody>
      </p:sp>
      <p:sp>
        <p:nvSpPr>
          <p:cNvPr id="9" name="Text 7"/>
          <p:cNvSpPr/>
          <p:nvPr/>
        </p:nvSpPr>
        <p:spPr>
          <a:xfrm>
            <a:off x="365760" y="2880360"/>
            <a:ext cx="1828800" cy="640080"/>
          </a:xfrm>
          <a:prstGeom prst="rect">
            <a:avLst/>
          </a:prstGeom>
          <a:noFill/>
          <a:ln/>
        </p:spPr>
        <p:txBody>
          <a:bodyPr wrap="square" rtlCol="0" anchor="ctr"/>
          <a:lstStyle/>
          <a:p>
            <a:pPr algn="ctr" indent="0" marL="0">
              <a:lnSpc>
                <a:spcPct val="130000"/>
              </a:lnSpc>
              <a:buNone/>
            </a:pPr>
            <a:r>
              <a:rPr lang="en-US" sz="1000" dirty="0">
                <a:solidFill>
                  <a:srgbClr val="64748B"/>
                </a:solidFill>
                <a:latin typeface="Calibri" pitchFamily="34" charset="0"/>
                <a:ea typeface="Calibri" pitchFamily="34" charset="-122"/>
                <a:cs typeface="Calibri" pitchFamily="34" charset="-120"/>
              </a:rPr>
              <a:t>先月の振り返り＋</a:t>
            </a:r>
            <a:endParaRPr lang="en-US" sz="1000" dirty="0"/>
          </a:p>
          <a:p>
            <a:pPr algn="ctr" indent="0" marL="0">
              <a:lnSpc>
                <a:spcPct val="130000"/>
              </a:lnSpc>
              <a:buNone/>
            </a:pPr>
            <a:r>
              <a:rPr lang="en-US" sz="1000" dirty="0">
                <a:solidFill>
                  <a:srgbClr val="64748B"/>
                </a:solidFill>
                <a:latin typeface="Calibri" pitchFamily="34" charset="0"/>
                <a:ea typeface="Calibri" pitchFamily="34" charset="-122"/>
                <a:cs typeface="Calibri" pitchFamily="34" charset="-120"/>
              </a:rPr>
              <a:t>今月の目標設定</a:t>
            </a:r>
            <a:endParaRPr lang="en-US" sz="1000" dirty="0"/>
          </a:p>
        </p:txBody>
      </p:sp>
      <p:sp>
        <p:nvSpPr>
          <p:cNvPr id="10" name="Shape 8"/>
          <p:cNvSpPr/>
          <p:nvPr/>
        </p:nvSpPr>
        <p:spPr>
          <a:xfrm>
            <a:off x="411480" y="3611880"/>
            <a:ext cx="1737360" cy="731520"/>
          </a:xfrm>
          <a:prstGeom prst="rect">
            <a:avLst/>
          </a:prstGeom>
          <a:solidFill>
            <a:srgbClr val="F0FDFA"/>
          </a:solidFill>
          <a:ln/>
        </p:spPr>
      </p:sp>
      <p:sp>
        <p:nvSpPr>
          <p:cNvPr id="11" name="Text 9"/>
          <p:cNvSpPr/>
          <p:nvPr/>
        </p:nvSpPr>
        <p:spPr>
          <a:xfrm>
            <a:off x="411480" y="3611880"/>
            <a:ext cx="1737360" cy="731520"/>
          </a:xfrm>
          <a:prstGeom prst="rect">
            <a:avLst/>
          </a:prstGeom>
          <a:noFill/>
          <a:ln/>
        </p:spPr>
        <p:txBody>
          <a:bodyPr wrap="square" rtlCol="0" anchor="ctr"/>
          <a:lstStyle/>
          <a:p>
            <a:pPr algn="ctr" indent="0" marL="0">
              <a:lnSpc>
                <a:spcPct val="130000"/>
              </a:lnSpc>
              <a:buNone/>
            </a:pPr>
            <a:r>
              <a:rPr lang="en-US" sz="900" dirty="0">
                <a:solidFill>
                  <a:srgbClr val="0D9488"/>
                </a:solidFill>
                <a:latin typeface="Calibri" pitchFamily="34" charset="0"/>
                <a:ea typeface="Calibri" pitchFamily="34" charset="-122"/>
                <a:cs typeface="Calibri" pitchFamily="34" charset="-120"/>
              </a:rPr>
              <a:t>月次目標と施策リスト</a:t>
            </a:r>
            <a:endParaRPr lang="en-US" sz="900" dirty="0"/>
          </a:p>
        </p:txBody>
      </p:sp>
      <p:pic>
        <p:nvPicPr>
          <p:cNvPr id="12" name="Image 0" descr="preencoded.png">    </p:cNvPr>
          <p:cNvPicPr>
            <a:picLocks noChangeAspect="1"/>
          </p:cNvPicPr>
          <p:nvPr/>
        </p:nvPicPr>
        <p:blipFill>
          <a:blip r:embed="rId1"/>
          <a:stretch>
            <a:fillRect/>
          </a:stretch>
        </p:blipFill>
        <p:spPr>
          <a:xfrm>
            <a:off x="2331720" y="2697480"/>
            <a:ext cx="182880" cy="182880"/>
          </a:xfrm>
          <a:prstGeom prst="rect">
            <a:avLst/>
          </a:prstGeom>
        </p:spPr>
      </p:pic>
      <p:sp>
        <p:nvSpPr>
          <p:cNvPr id="13" name="Shape 10"/>
          <p:cNvSpPr/>
          <p:nvPr/>
        </p:nvSpPr>
        <p:spPr>
          <a:xfrm>
            <a:off x="2468880" y="1097280"/>
            <a:ext cx="2011680" cy="34747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Shape 11"/>
          <p:cNvSpPr/>
          <p:nvPr/>
        </p:nvSpPr>
        <p:spPr>
          <a:xfrm>
            <a:off x="3108960" y="1325880"/>
            <a:ext cx="731520" cy="731520"/>
          </a:xfrm>
          <a:prstGeom prst="ellipse">
            <a:avLst/>
          </a:prstGeom>
          <a:solidFill>
            <a:srgbClr val="0D9488"/>
          </a:solidFill>
          <a:ln/>
        </p:spPr>
      </p:sp>
      <p:sp>
        <p:nvSpPr>
          <p:cNvPr id="15" name="Text 12"/>
          <p:cNvSpPr/>
          <p:nvPr/>
        </p:nvSpPr>
        <p:spPr>
          <a:xfrm>
            <a:off x="3108960" y="1325880"/>
            <a:ext cx="731520" cy="73152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2</a:t>
            </a:r>
            <a:endParaRPr lang="en-US" sz="2400" dirty="0"/>
          </a:p>
        </p:txBody>
      </p:sp>
      <p:sp>
        <p:nvSpPr>
          <p:cNvPr id="16" name="Text 13"/>
          <p:cNvSpPr/>
          <p:nvPr/>
        </p:nvSpPr>
        <p:spPr>
          <a:xfrm>
            <a:off x="2560320" y="2148840"/>
            <a:ext cx="18288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第2週</a:t>
            </a:r>
            <a:endParaRPr lang="en-US" sz="900" dirty="0"/>
          </a:p>
        </p:txBody>
      </p:sp>
      <p:sp>
        <p:nvSpPr>
          <p:cNvPr id="17" name="Text 14"/>
          <p:cNvSpPr/>
          <p:nvPr/>
        </p:nvSpPr>
        <p:spPr>
          <a:xfrm>
            <a:off x="2560320" y="2423160"/>
            <a:ext cx="1828800" cy="411480"/>
          </a:xfrm>
          <a:prstGeom prst="rect">
            <a:avLst/>
          </a:prstGeom>
          <a:noFill/>
          <a:ln/>
        </p:spPr>
        <p:txBody>
          <a:bodyPr wrap="square" rtlCol="0" anchor="ctr"/>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施策の実装支援</a:t>
            </a:r>
            <a:endParaRPr lang="en-US" sz="1200" dirty="0"/>
          </a:p>
        </p:txBody>
      </p:sp>
      <p:sp>
        <p:nvSpPr>
          <p:cNvPr id="18" name="Text 15"/>
          <p:cNvSpPr/>
          <p:nvPr/>
        </p:nvSpPr>
        <p:spPr>
          <a:xfrm>
            <a:off x="2560320" y="2880360"/>
            <a:ext cx="1828800" cy="640080"/>
          </a:xfrm>
          <a:prstGeom prst="rect">
            <a:avLst/>
          </a:prstGeom>
          <a:noFill/>
          <a:ln/>
        </p:spPr>
        <p:txBody>
          <a:bodyPr wrap="square" rtlCol="0" anchor="ctr"/>
          <a:lstStyle/>
          <a:p>
            <a:pPr algn="ctr" indent="0" marL="0">
              <a:lnSpc>
                <a:spcPct val="130000"/>
              </a:lnSpc>
              <a:buNone/>
            </a:pPr>
            <a:r>
              <a:rPr lang="en-US" sz="1000" dirty="0">
                <a:solidFill>
                  <a:srgbClr val="64748B"/>
                </a:solidFill>
                <a:latin typeface="Calibri" pitchFamily="34" charset="0"/>
                <a:ea typeface="Calibri" pitchFamily="34" charset="-122"/>
                <a:cs typeface="Calibri" pitchFamily="34" charset="-120"/>
              </a:rPr>
              <a:t>AI活用フローの</a:t>
            </a:r>
            <a:endParaRPr lang="en-US" sz="1000" dirty="0"/>
          </a:p>
          <a:p>
            <a:pPr algn="ctr" indent="0" marL="0">
              <a:lnSpc>
                <a:spcPct val="130000"/>
              </a:lnSpc>
              <a:buNone/>
            </a:pPr>
            <a:r>
              <a:rPr lang="en-US" sz="1000" dirty="0">
                <a:solidFill>
                  <a:srgbClr val="64748B"/>
                </a:solidFill>
                <a:latin typeface="Calibri" pitchFamily="34" charset="0"/>
                <a:ea typeface="Calibri" pitchFamily="34" charset="-122"/>
                <a:cs typeface="Calibri" pitchFamily="34" charset="-120"/>
              </a:rPr>
              <a:t>構築・調整</a:t>
            </a:r>
            <a:endParaRPr lang="en-US" sz="1000" dirty="0"/>
          </a:p>
        </p:txBody>
      </p:sp>
      <p:sp>
        <p:nvSpPr>
          <p:cNvPr id="19" name="Shape 16"/>
          <p:cNvSpPr/>
          <p:nvPr/>
        </p:nvSpPr>
        <p:spPr>
          <a:xfrm>
            <a:off x="2606040" y="3611880"/>
            <a:ext cx="1737360" cy="731520"/>
          </a:xfrm>
          <a:prstGeom prst="rect">
            <a:avLst/>
          </a:prstGeom>
          <a:solidFill>
            <a:srgbClr val="F0FDFA"/>
          </a:solidFill>
          <a:ln/>
        </p:spPr>
      </p:sp>
      <p:sp>
        <p:nvSpPr>
          <p:cNvPr id="20" name="Text 17"/>
          <p:cNvSpPr/>
          <p:nvPr/>
        </p:nvSpPr>
        <p:spPr>
          <a:xfrm>
            <a:off x="2606040" y="3611880"/>
            <a:ext cx="1737360" cy="731520"/>
          </a:xfrm>
          <a:prstGeom prst="rect">
            <a:avLst/>
          </a:prstGeom>
          <a:noFill/>
          <a:ln/>
        </p:spPr>
        <p:txBody>
          <a:bodyPr wrap="square" rtlCol="0" anchor="ctr"/>
          <a:lstStyle/>
          <a:p>
            <a:pPr algn="ctr" indent="0" marL="0">
              <a:lnSpc>
                <a:spcPct val="130000"/>
              </a:lnSpc>
              <a:buNone/>
            </a:pPr>
            <a:r>
              <a:rPr lang="en-US" sz="900" dirty="0">
                <a:solidFill>
                  <a:srgbClr val="0D9488"/>
                </a:solidFill>
                <a:latin typeface="Calibri" pitchFamily="34" charset="0"/>
                <a:ea typeface="Calibri" pitchFamily="34" charset="-122"/>
                <a:cs typeface="Calibri" pitchFamily="34" charset="-120"/>
              </a:rPr>
              <a:t>業務自動化フロー</a:t>
            </a:r>
            <a:endParaRPr lang="en-US" sz="900" dirty="0"/>
          </a:p>
          <a:p>
            <a:pPr algn="ctr" indent="0" marL="0">
              <a:lnSpc>
                <a:spcPct val="130000"/>
              </a:lnSpc>
              <a:buNone/>
            </a:pPr>
            <a:r>
              <a:rPr lang="en-US" sz="900" dirty="0">
                <a:solidFill>
                  <a:srgbClr val="0D9488"/>
                </a:solidFill>
                <a:latin typeface="Calibri" pitchFamily="34" charset="0"/>
                <a:ea typeface="Calibri" pitchFamily="34" charset="-122"/>
                <a:cs typeface="Calibri" pitchFamily="34" charset="-120"/>
              </a:rPr>
              <a:t>プロンプトテンプレート</a:t>
            </a:r>
            <a:endParaRPr lang="en-US" sz="900" dirty="0"/>
          </a:p>
        </p:txBody>
      </p:sp>
      <p:pic>
        <p:nvPicPr>
          <p:cNvPr id="21" name="Image 1" descr="preencoded.png">    </p:cNvPr>
          <p:cNvPicPr>
            <a:picLocks noChangeAspect="1"/>
          </p:cNvPicPr>
          <p:nvPr/>
        </p:nvPicPr>
        <p:blipFill>
          <a:blip r:embed="rId2"/>
          <a:stretch>
            <a:fillRect/>
          </a:stretch>
        </p:blipFill>
        <p:spPr>
          <a:xfrm>
            <a:off x="4526280" y="2697480"/>
            <a:ext cx="182880" cy="182880"/>
          </a:xfrm>
          <a:prstGeom prst="rect">
            <a:avLst/>
          </a:prstGeom>
        </p:spPr>
      </p:pic>
      <p:sp>
        <p:nvSpPr>
          <p:cNvPr id="22" name="Shape 18"/>
          <p:cNvSpPr/>
          <p:nvPr/>
        </p:nvSpPr>
        <p:spPr>
          <a:xfrm>
            <a:off x="4663440" y="1097280"/>
            <a:ext cx="2011680" cy="34747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3" name="Shape 19"/>
          <p:cNvSpPr/>
          <p:nvPr/>
        </p:nvSpPr>
        <p:spPr>
          <a:xfrm>
            <a:off x="5303520" y="1325880"/>
            <a:ext cx="731520" cy="731520"/>
          </a:xfrm>
          <a:prstGeom prst="ellipse">
            <a:avLst/>
          </a:prstGeom>
          <a:solidFill>
            <a:srgbClr val="0D9488"/>
          </a:solidFill>
          <a:ln/>
        </p:spPr>
      </p:sp>
      <p:sp>
        <p:nvSpPr>
          <p:cNvPr id="24" name="Text 20"/>
          <p:cNvSpPr/>
          <p:nvPr/>
        </p:nvSpPr>
        <p:spPr>
          <a:xfrm>
            <a:off x="5303520" y="1325880"/>
            <a:ext cx="731520" cy="73152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3</a:t>
            </a:r>
            <a:endParaRPr lang="en-US" sz="2400" dirty="0"/>
          </a:p>
        </p:txBody>
      </p:sp>
      <p:sp>
        <p:nvSpPr>
          <p:cNvPr id="25" name="Text 21"/>
          <p:cNvSpPr/>
          <p:nvPr/>
        </p:nvSpPr>
        <p:spPr>
          <a:xfrm>
            <a:off x="4754880" y="2148840"/>
            <a:ext cx="18288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第3週</a:t>
            </a:r>
            <a:endParaRPr lang="en-US" sz="900" dirty="0"/>
          </a:p>
        </p:txBody>
      </p:sp>
      <p:sp>
        <p:nvSpPr>
          <p:cNvPr id="26" name="Text 22"/>
          <p:cNvSpPr/>
          <p:nvPr/>
        </p:nvSpPr>
        <p:spPr>
          <a:xfrm>
            <a:off x="4754880" y="2423160"/>
            <a:ext cx="1828800" cy="411480"/>
          </a:xfrm>
          <a:prstGeom prst="rect">
            <a:avLst/>
          </a:prstGeom>
          <a:noFill/>
          <a:ln/>
        </p:spPr>
        <p:txBody>
          <a:bodyPr wrap="square" rtlCol="0" anchor="ctr"/>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進捗確認＋現場フォロー</a:t>
            </a:r>
            <a:endParaRPr lang="en-US" sz="1200" dirty="0"/>
          </a:p>
        </p:txBody>
      </p:sp>
      <p:sp>
        <p:nvSpPr>
          <p:cNvPr id="27" name="Text 23"/>
          <p:cNvSpPr/>
          <p:nvPr/>
        </p:nvSpPr>
        <p:spPr>
          <a:xfrm>
            <a:off x="4754880" y="2880360"/>
            <a:ext cx="1828800" cy="640080"/>
          </a:xfrm>
          <a:prstGeom prst="rect">
            <a:avLst/>
          </a:prstGeom>
          <a:noFill/>
          <a:ln/>
        </p:spPr>
        <p:txBody>
          <a:bodyPr wrap="square" rtlCol="0" anchor="ctr"/>
          <a:lstStyle/>
          <a:p>
            <a:pPr algn="ctr" indent="0" marL="0">
              <a:lnSpc>
                <a:spcPct val="130000"/>
              </a:lnSpc>
              <a:buNone/>
            </a:pPr>
            <a:r>
              <a:rPr lang="en-US" sz="1000" dirty="0">
                <a:solidFill>
                  <a:srgbClr val="64748B"/>
                </a:solidFill>
                <a:latin typeface="Calibri" pitchFamily="34" charset="0"/>
                <a:ea typeface="Calibri" pitchFamily="34" charset="-122"/>
                <a:cs typeface="Calibri" pitchFamily="34" charset="-120"/>
              </a:rPr>
              <a:t>使ってみての</a:t>
            </a:r>
            <a:endParaRPr lang="en-US" sz="1000" dirty="0"/>
          </a:p>
          <a:p>
            <a:pPr algn="ctr" indent="0" marL="0">
              <a:lnSpc>
                <a:spcPct val="130000"/>
              </a:lnSpc>
              <a:buNone/>
            </a:pPr>
            <a:r>
              <a:rPr lang="en-US" sz="1000" dirty="0">
                <a:solidFill>
                  <a:srgbClr val="64748B"/>
                </a:solidFill>
                <a:latin typeface="Calibri" pitchFamily="34" charset="0"/>
                <a:ea typeface="Calibri" pitchFamily="34" charset="-122"/>
                <a:cs typeface="Calibri" pitchFamily="34" charset="-120"/>
              </a:rPr>
              <a:t>Q&amp;A対応</a:t>
            </a:r>
            <a:endParaRPr lang="en-US" sz="1000" dirty="0"/>
          </a:p>
        </p:txBody>
      </p:sp>
      <p:sp>
        <p:nvSpPr>
          <p:cNvPr id="28" name="Shape 24"/>
          <p:cNvSpPr/>
          <p:nvPr/>
        </p:nvSpPr>
        <p:spPr>
          <a:xfrm>
            <a:off x="4800600" y="3611880"/>
            <a:ext cx="1737360" cy="731520"/>
          </a:xfrm>
          <a:prstGeom prst="rect">
            <a:avLst/>
          </a:prstGeom>
          <a:solidFill>
            <a:srgbClr val="F0FDFA"/>
          </a:solidFill>
          <a:ln/>
        </p:spPr>
      </p:sp>
      <p:sp>
        <p:nvSpPr>
          <p:cNvPr id="29" name="Text 25"/>
          <p:cNvSpPr/>
          <p:nvPr/>
        </p:nvSpPr>
        <p:spPr>
          <a:xfrm>
            <a:off x="4800600" y="3611880"/>
            <a:ext cx="1737360" cy="731520"/>
          </a:xfrm>
          <a:prstGeom prst="rect">
            <a:avLst/>
          </a:prstGeom>
          <a:noFill/>
          <a:ln/>
        </p:spPr>
        <p:txBody>
          <a:bodyPr wrap="square" rtlCol="0" anchor="ctr"/>
          <a:lstStyle/>
          <a:p>
            <a:pPr algn="ctr" indent="0" marL="0">
              <a:lnSpc>
                <a:spcPct val="130000"/>
              </a:lnSpc>
              <a:buNone/>
            </a:pPr>
            <a:r>
              <a:rPr lang="en-US" sz="900" dirty="0">
                <a:solidFill>
                  <a:srgbClr val="0D9488"/>
                </a:solidFill>
                <a:latin typeface="Calibri" pitchFamily="34" charset="0"/>
                <a:ea typeface="Calibri" pitchFamily="34" charset="-122"/>
                <a:cs typeface="Calibri" pitchFamily="34" charset="-120"/>
              </a:rPr>
              <a:t>FAQ集</a:t>
            </a:r>
            <a:endParaRPr lang="en-US" sz="900" dirty="0"/>
          </a:p>
          <a:p>
            <a:pPr algn="ctr" indent="0" marL="0">
              <a:lnSpc>
                <a:spcPct val="130000"/>
              </a:lnSpc>
              <a:buNone/>
            </a:pPr>
            <a:r>
              <a:rPr lang="en-US" sz="900" dirty="0">
                <a:solidFill>
                  <a:srgbClr val="0D9488"/>
                </a:solidFill>
                <a:latin typeface="Calibri" pitchFamily="34" charset="0"/>
                <a:ea typeface="Calibri" pitchFamily="34" charset="-122"/>
                <a:cs typeface="Calibri" pitchFamily="34" charset="-120"/>
              </a:rPr>
              <a:t>改善された運用マニュアル</a:t>
            </a:r>
            <a:endParaRPr lang="en-US" sz="900" dirty="0"/>
          </a:p>
        </p:txBody>
      </p:sp>
      <p:pic>
        <p:nvPicPr>
          <p:cNvPr id="30" name="Image 2" descr="preencoded.png">    </p:cNvPr>
          <p:cNvPicPr>
            <a:picLocks noChangeAspect="1"/>
          </p:cNvPicPr>
          <p:nvPr/>
        </p:nvPicPr>
        <p:blipFill>
          <a:blip r:embed="rId3"/>
          <a:stretch>
            <a:fillRect/>
          </a:stretch>
        </p:blipFill>
        <p:spPr>
          <a:xfrm>
            <a:off x="6720840" y="2697480"/>
            <a:ext cx="182880" cy="182880"/>
          </a:xfrm>
          <a:prstGeom prst="rect">
            <a:avLst/>
          </a:prstGeom>
        </p:spPr>
      </p:pic>
      <p:sp>
        <p:nvSpPr>
          <p:cNvPr id="31" name="Shape 26"/>
          <p:cNvSpPr/>
          <p:nvPr/>
        </p:nvSpPr>
        <p:spPr>
          <a:xfrm>
            <a:off x="6858000" y="1097280"/>
            <a:ext cx="2011680" cy="34747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2" name="Shape 27"/>
          <p:cNvSpPr/>
          <p:nvPr/>
        </p:nvSpPr>
        <p:spPr>
          <a:xfrm>
            <a:off x="7498080" y="1325880"/>
            <a:ext cx="731520" cy="731520"/>
          </a:xfrm>
          <a:prstGeom prst="ellipse">
            <a:avLst/>
          </a:prstGeom>
          <a:solidFill>
            <a:srgbClr val="0D9488"/>
          </a:solidFill>
          <a:ln/>
        </p:spPr>
      </p:sp>
      <p:sp>
        <p:nvSpPr>
          <p:cNvPr id="33" name="Text 28"/>
          <p:cNvSpPr/>
          <p:nvPr/>
        </p:nvSpPr>
        <p:spPr>
          <a:xfrm>
            <a:off x="7498080" y="1325880"/>
            <a:ext cx="731520" cy="73152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4</a:t>
            </a:r>
            <a:endParaRPr lang="en-US" sz="2400" dirty="0"/>
          </a:p>
        </p:txBody>
      </p:sp>
      <p:sp>
        <p:nvSpPr>
          <p:cNvPr id="34" name="Text 29"/>
          <p:cNvSpPr/>
          <p:nvPr/>
        </p:nvSpPr>
        <p:spPr>
          <a:xfrm>
            <a:off x="6949440" y="2148840"/>
            <a:ext cx="1828800" cy="27432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第4週</a:t>
            </a:r>
            <a:endParaRPr lang="en-US" sz="900" dirty="0"/>
          </a:p>
        </p:txBody>
      </p:sp>
      <p:sp>
        <p:nvSpPr>
          <p:cNvPr id="35" name="Text 30"/>
          <p:cNvSpPr/>
          <p:nvPr/>
        </p:nvSpPr>
        <p:spPr>
          <a:xfrm>
            <a:off x="6949440" y="2423160"/>
            <a:ext cx="1828800" cy="411480"/>
          </a:xfrm>
          <a:prstGeom prst="rect">
            <a:avLst/>
          </a:prstGeom>
          <a:noFill/>
          <a:ln/>
        </p:spPr>
        <p:txBody>
          <a:bodyPr wrap="square" rtlCol="0" anchor="ctr"/>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効果測定＋来月の計画</a:t>
            </a:r>
            <a:endParaRPr lang="en-US" sz="1200" dirty="0"/>
          </a:p>
        </p:txBody>
      </p:sp>
      <p:sp>
        <p:nvSpPr>
          <p:cNvPr id="36" name="Text 31"/>
          <p:cNvSpPr/>
          <p:nvPr/>
        </p:nvSpPr>
        <p:spPr>
          <a:xfrm>
            <a:off x="6949440" y="2880360"/>
            <a:ext cx="1828800" cy="640080"/>
          </a:xfrm>
          <a:prstGeom prst="rect">
            <a:avLst/>
          </a:prstGeom>
          <a:noFill/>
          <a:ln/>
        </p:spPr>
        <p:txBody>
          <a:bodyPr wrap="square" rtlCol="0" anchor="ctr"/>
          <a:lstStyle/>
          <a:p>
            <a:pPr algn="ctr" indent="0" marL="0">
              <a:lnSpc>
                <a:spcPct val="130000"/>
              </a:lnSpc>
              <a:buNone/>
            </a:pPr>
            <a:r>
              <a:rPr lang="en-US" sz="1000" dirty="0">
                <a:solidFill>
                  <a:srgbClr val="64748B"/>
                </a:solidFill>
                <a:latin typeface="Calibri" pitchFamily="34" charset="0"/>
                <a:ea typeface="Calibri" pitchFamily="34" charset="-122"/>
                <a:cs typeface="Calibri" pitchFamily="34" charset="-120"/>
              </a:rPr>
              <a:t>定量・定性の</a:t>
            </a:r>
            <a:endParaRPr lang="en-US" sz="1000" dirty="0"/>
          </a:p>
          <a:p>
            <a:pPr algn="ctr" indent="0" marL="0">
              <a:lnSpc>
                <a:spcPct val="130000"/>
              </a:lnSpc>
              <a:buNone/>
            </a:pPr>
            <a:r>
              <a:rPr lang="en-US" sz="1000" dirty="0">
                <a:solidFill>
                  <a:srgbClr val="64748B"/>
                </a:solidFill>
                <a:latin typeface="Calibri" pitchFamily="34" charset="0"/>
                <a:ea typeface="Calibri" pitchFamily="34" charset="-122"/>
                <a:cs typeface="Calibri" pitchFamily="34" charset="-120"/>
              </a:rPr>
              <a:t>振り返り</a:t>
            </a:r>
            <a:endParaRPr lang="en-US" sz="1000" dirty="0"/>
          </a:p>
        </p:txBody>
      </p:sp>
      <p:sp>
        <p:nvSpPr>
          <p:cNvPr id="37" name="Shape 32"/>
          <p:cNvSpPr/>
          <p:nvPr/>
        </p:nvSpPr>
        <p:spPr>
          <a:xfrm>
            <a:off x="6995160" y="3611880"/>
            <a:ext cx="1737360" cy="731520"/>
          </a:xfrm>
          <a:prstGeom prst="rect">
            <a:avLst/>
          </a:prstGeom>
          <a:solidFill>
            <a:srgbClr val="F0FDFA"/>
          </a:solidFill>
          <a:ln/>
        </p:spPr>
      </p:sp>
      <p:sp>
        <p:nvSpPr>
          <p:cNvPr id="38" name="Text 33"/>
          <p:cNvSpPr/>
          <p:nvPr/>
        </p:nvSpPr>
        <p:spPr>
          <a:xfrm>
            <a:off x="6995160" y="3611880"/>
            <a:ext cx="1737360" cy="731520"/>
          </a:xfrm>
          <a:prstGeom prst="rect">
            <a:avLst/>
          </a:prstGeom>
          <a:noFill/>
          <a:ln/>
        </p:spPr>
        <p:txBody>
          <a:bodyPr wrap="square" rtlCol="0" anchor="ctr"/>
          <a:lstStyle/>
          <a:p>
            <a:pPr algn="ctr" indent="0" marL="0">
              <a:lnSpc>
                <a:spcPct val="130000"/>
              </a:lnSpc>
              <a:buNone/>
            </a:pPr>
            <a:r>
              <a:rPr lang="en-US" sz="900" dirty="0">
                <a:solidFill>
                  <a:srgbClr val="0D9488"/>
                </a:solidFill>
                <a:latin typeface="Calibri" pitchFamily="34" charset="0"/>
                <a:ea typeface="Calibri" pitchFamily="34" charset="-122"/>
                <a:cs typeface="Calibri" pitchFamily="34" charset="-120"/>
              </a:rPr>
              <a:t>効果測定レポート</a:t>
            </a:r>
            <a:endParaRPr lang="en-US" sz="900" dirty="0"/>
          </a:p>
          <a:p>
            <a:pPr algn="ctr" indent="0" marL="0">
              <a:lnSpc>
                <a:spcPct val="130000"/>
              </a:lnSpc>
              <a:buNone/>
            </a:pPr>
            <a:r>
              <a:rPr lang="en-US" sz="900" dirty="0">
                <a:solidFill>
                  <a:srgbClr val="0D9488"/>
                </a:solidFill>
                <a:latin typeface="Calibri" pitchFamily="34" charset="0"/>
                <a:ea typeface="Calibri" pitchFamily="34" charset="-122"/>
                <a:cs typeface="Calibri" pitchFamily="34" charset="-120"/>
              </a:rPr>
              <a:t>来月の施策計画</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731520" y="1463040"/>
            <a:ext cx="7315200" cy="457200"/>
          </a:xfrm>
          <a:prstGeom prst="rect">
            <a:avLst/>
          </a:prstGeom>
          <a:noFill/>
          <a:ln/>
        </p:spPr>
        <p:txBody>
          <a:bodyPr wrap="square" rtlCol="0" anchor="ctr"/>
          <a:lstStyle/>
          <a:p>
            <a:pPr indent="0" marL="0">
              <a:buNone/>
            </a:pPr>
            <a:r>
              <a:rPr lang="en-US" sz="1400" b="1" spc="400" kern="0" dirty="0">
                <a:solidFill>
                  <a:srgbClr val="14B8A6"/>
                </a:solidFill>
                <a:latin typeface="Calibri" pitchFamily="34" charset="0"/>
                <a:ea typeface="Calibri" pitchFamily="34" charset="-122"/>
                <a:cs typeface="Calibri" pitchFamily="34" charset="-120"/>
              </a:rPr>
              <a:t>SECTION 06</a:t>
            </a:r>
            <a:endParaRPr lang="en-US" sz="1400" dirty="0"/>
          </a:p>
        </p:txBody>
      </p:sp>
      <p:sp>
        <p:nvSpPr>
          <p:cNvPr id="3" name="Text 1"/>
          <p:cNvSpPr/>
          <p:nvPr/>
        </p:nvSpPr>
        <p:spPr>
          <a:xfrm>
            <a:off x="731520" y="1920240"/>
            <a:ext cx="768096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PHASE 3 &amp; ソリューション提案</a:t>
            </a:r>
            <a:endParaRPr lang="en-US" sz="3600" dirty="0"/>
          </a:p>
        </p:txBody>
      </p:sp>
      <p:sp>
        <p:nvSpPr>
          <p:cNvPr id="4" name="Shape 2"/>
          <p:cNvSpPr/>
          <p:nvPr/>
        </p:nvSpPr>
        <p:spPr>
          <a:xfrm>
            <a:off x="731520" y="3108960"/>
            <a:ext cx="1097280" cy="54864"/>
          </a:xfrm>
          <a:prstGeom prst="rect">
            <a:avLst/>
          </a:prstGeom>
          <a:solidFill>
            <a:srgbClr val="0D9488"/>
          </a:solidFill>
          <a:ln/>
        </p:spPr>
      </p:sp>
      <p:sp>
        <p:nvSpPr>
          <p:cNvPr id="5" name="Text 3"/>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PHASE 3：全社のAI組織化</a:t>
            </a:r>
            <a:endParaRPr lang="en-US" sz="2200" dirty="0"/>
          </a:p>
        </p:txBody>
      </p:sp>
      <p:sp>
        <p:nvSpPr>
          <p:cNvPr id="4" name="Text 2"/>
          <p:cNvSpPr/>
          <p:nvPr/>
        </p:nvSpPr>
        <p:spPr>
          <a:xfrm>
            <a:off x="457200" y="777240"/>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PHASE 1・2の成果を全社に横展開し、AI活用が自律的に回り続ける組織を作る。</a:t>
            </a:r>
            <a:endParaRPr lang="en-US" sz="1200" dirty="0"/>
          </a:p>
        </p:txBody>
      </p:sp>
      <p:sp>
        <p:nvSpPr>
          <p:cNvPr id="5" name="Shape 3"/>
          <p:cNvSpPr/>
          <p:nvPr/>
        </p:nvSpPr>
        <p:spPr>
          <a:xfrm>
            <a:off x="457200" y="1280160"/>
            <a:ext cx="3931920" cy="12801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280160"/>
            <a:ext cx="54864" cy="1280160"/>
          </a:xfrm>
          <a:prstGeom prst="rect">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685800" y="1645920"/>
            <a:ext cx="457200" cy="457200"/>
          </a:xfrm>
          <a:prstGeom prst="rect">
            <a:avLst/>
          </a:prstGeom>
        </p:spPr>
      </p:pic>
      <p:sp>
        <p:nvSpPr>
          <p:cNvPr id="8" name="Text 5"/>
          <p:cNvSpPr/>
          <p:nvPr/>
        </p:nvSpPr>
        <p:spPr>
          <a:xfrm>
            <a:off x="1280160" y="1371600"/>
            <a:ext cx="2926080" cy="411480"/>
          </a:xfrm>
          <a:prstGeom prst="rect">
            <a:avLst/>
          </a:prstGeom>
          <a:noFill/>
          <a:ln/>
        </p:spPr>
        <p:txBody>
          <a:bodyPr wrap="square"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全社AI活用戦略の策定</a:t>
            </a:r>
            <a:endParaRPr lang="en-US" sz="1300" dirty="0"/>
          </a:p>
        </p:txBody>
      </p:sp>
      <p:sp>
        <p:nvSpPr>
          <p:cNvPr id="9" name="Text 6"/>
          <p:cNvSpPr/>
          <p:nvPr/>
        </p:nvSpPr>
        <p:spPr>
          <a:xfrm>
            <a:off x="1280160" y="1828800"/>
            <a:ext cx="2926080" cy="594360"/>
          </a:xfrm>
          <a:prstGeom prst="rect">
            <a:avLst/>
          </a:prstGeom>
          <a:noFill/>
          <a:ln/>
        </p:spPr>
        <p:txBody>
          <a:bodyPr wrap="square" rtlCol="0" anchor="t"/>
          <a:lstStyle/>
          <a:p>
            <a:pPr indent="0" marL="0">
              <a:lnSpc>
                <a:spcPct val="130000"/>
              </a:lnSpc>
              <a:buNone/>
            </a:pPr>
            <a:r>
              <a:rPr lang="en-US" sz="1050" dirty="0">
                <a:solidFill>
                  <a:srgbClr val="64748B"/>
                </a:solidFill>
                <a:latin typeface="Calibri" pitchFamily="34" charset="0"/>
                <a:ea typeface="Calibri" pitchFamily="34" charset="-122"/>
                <a:cs typeface="Calibri" pitchFamily="34" charset="-120"/>
              </a:rPr>
              <a:t>経営層と連携し、中期的なAI活用ビジョンとロードマップを策定する。</a:t>
            </a:r>
            <a:endParaRPr lang="en-US" sz="1050" dirty="0"/>
          </a:p>
        </p:txBody>
      </p:sp>
      <p:sp>
        <p:nvSpPr>
          <p:cNvPr id="10" name="Shape 7"/>
          <p:cNvSpPr/>
          <p:nvPr/>
        </p:nvSpPr>
        <p:spPr>
          <a:xfrm>
            <a:off x="4663440" y="1280160"/>
            <a:ext cx="3931920" cy="12801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1" name="Shape 8"/>
          <p:cNvSpPr/>
          <p:nvPr/>
        </p:nvSpPr>
        <p:spPr>
          <a:xfrm>
            <a:off x="4663440" y="1280160"/>
            <a:ext cx="54864" cy="1280160"/>
          </a:xfrm>
          <a:prstGeom prst="rect">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4892040" y="1645920"/>
            <a:ext cx="457200" cy="457200"/>
          </a:xfrm>
          <a:prstGeom prst="rect">
            <a:avLst/>
          </a:prstGeom>
        </p:spPr>
      </p:pic>
      <p:sp>
        <p:nvSpPr>
          <p:cNvPr id="13" name="Text 9"/>
          <p:cNvSpPr/>
          <p:nvPr/>
        </p:nvSpPr>
        <p:spPr>
          <a:xfrm>
            <a:off x="5486400" y="1371600"/>
            <a:ext cx="2926080" cy="411480"/>
          </a:xfrm>
          <a:prstGeom prst="rect">
            <a:avLst/>
          </a:prstGeom>
          <a:noFill/>
          <a:ln/>
        </p:spPr>
        <p:txBody>
          <a:bodyPr wrap="square"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全社ガイドラインの整備</a:t>
            </a:r>
            <a:endParaRPr lang="en-US" sz="1300" dirty="0"/>
          </a:p>
        </p:txBody>
      </p:sp>
      <p:sp>
        <p:nvSpPr>
          <p:cNvPr id="14" name="Text 10"/>
          <p:cNvSpPr/>
          <p:nvPr/>
        </p:nvSpPr>
        <p:spPr>
          <a:xfrm>
            <a:off x="5486400" y="1828800"/>
            <a:ext cx="2926080" cy="594360"/>
          </a:xfrm>
          <a:prstGeom prst="rect">
            <a:avLst/>
          </a:prstGeom>
          <a:noFill/>
          <a:ln/>
        </p:spPr>
        <p:txBody>
          <a:bodyPr wrap="square" rtlCol="0" anchor="t"/>
          <a:lstStyle/>
          <a:p>
            <a:pPr indent="0" marL="0">
              <a:lnSpc>
                <a:spcPct val="130000"/>
              </a:lnSpc>
              <a:buNone/>
            </a:pPr>
            <a:r>
              <a:rPr lang="en-US" sz="1050" dirty="0">
                <a:solidFill>
                  <a:srgbClr val="64748B"/>
                </a:solidFill>
                <a:latin typeface="Calibri" pitchFamily="34" charset="0"/>
                <a:ea typeface="Calibri" pitchFamily="34" charset="-122"/>
                <a:cs typeface="Calibri" pitchFamily="34" charset="-120"/>
              </a:rPr>
              <a:t>情報セキュリティ、品質管理、倫理面のルールを含む全社共通ガイドラインを構築。</a:t>
            </a:r>
            <a:endParaRPr lang="en-US" sz="1050" dirty="0"/>
          </a:p>
        </p:txBody>
      </p:sp>
      <p:sp>
        <p:nvSpPr>
          <p:cNvPr id="15" name="Shape 11"/>
          <p:cNvSpPr/>
          <p:nvPr/>
        </p:nvSpPr>
        <p:spPr>
          <a:xfrm>
            <a:off x="457200" y="2834640"/>
            <a:ext cx="3931920" cy="12801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Shape 12"/>
          <p:cNvSpPr/>
          <p:nvPr/>
        </p:nvSpPr>
        <p:spPr>
          <a:xfrm>
            <a:off x="457200" y="2834640"/>
            <a:ext cx="54864" cy="1280160"/>
          </a:xfrm>
          <a:prstGeom prst="rect">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685800" y="3200400"/>
            <a:ext cx="457200" cy="457200"/>
          </a:xfrm>
          <a:prstGeom prst="rect">
            <a:avLst/>
          </a:prstGeom>
        </p:spPr>
      </p:pic>
      <p:sp>
        <p:nvSpPr>
          <p:cNvPr id="18" name="Text 13"/>
          <p:cNvSpPr/>
          <p:nvPr/>
        </p:nvSpPr>
        <p:spPr>
          <a:xfrm>
            <a:off x="1280160" y="2926080"/>
            <a:ext cx="2926080" cy="411480"/>
          </a:xfrm>
          <a:prstGeom prst="rect">
            <a:avLst/>
          </a:prstGeom>
          <a:noFill/>
          <a:ln/>
        </p:spPr>
        <p:txBody>
          <a:bodyPr wrap="square"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AI推進体制の構築</a:t>
            </a:r>
            <a:endParaRPr lang="en-US" sz="1300" dirty="0"/>
          </a:p>
        </p:txBody>
      </p:sp>
      <p:sp>
        <p:nvSpPr>
          <p:cNvPr id="19" name="Text 14"/>
          <p:cNvSpPr/>
          <p:nvPr/>
        </p:nvSpPr>
        <p:spPr>
          <a:xfrm>
            <a:off x="1280160" y="3383280"/>
            <a:ext cx="2926080" cy="594360"/>
          </a:xfrm>
          <a:prstGeom prst="rect">
            <a:avLst/>
          </a:prstGeom>
          <a:noFill/>
          <a:ln/>
        </p:spPr>
        <p:txBody>
          <a:bodyPr wrap="square" rtlCol="0" anchor="t"/>
          <a:lstStyle/>
          <a:p>
            <a:pPr indent="0" marL="0">
              <a:lnSpc>
                <a:spcPct val="130000"/>
              </a:lnSpc>
              <a:buNone/>
            </a:pPr>
            <a:r>
              <a:rPr lang="en-US" sz="1050" dirty="0">
                <a:solidFill>
                  <a:srgbClr val="64748B"/>
                </a:solidFill>
                <a:latin typeface="Calibri" pitchFamily="34" charset="0"/>
                <a:ea typeface="Calibri" pitchFamily="34" charset="-122"/>
                <a:cs typeface="Calibri" pitchFamily="34" charset="-120"/>
              </a:rPr>
              <a:t>社内AI推進チームの立ち上げ、各部門への推進担当者配置を支援。</a:t>
            </a:r>
            <a:endParaRPr lang="en-US" sz="1050" dirty="0"/>
          </a:p>
        </p:txBody>
      </p:sp>
      <p:sp>
        <p:nvSpPr>
          <p:cNvPr id="20" name="Shape 15"/>
          <p:cNvSpPr/>
          <p:nvPr/>
        </p:nvSpPr>
        <p:spPr>
          <a:xfrm>
            <a:off x="4663440" y="2834640"/>
            <a:ext cx="3931920" cy="12801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1" name="Shape 16"/>
          <p:cNvSpPr/>
          <p:nvPr/>
        </p:nvSpPr>
        <p:spPr>
          <a:xfrm>
            <a:off x="4663440" y="2834640"/>
            <a:ext cx="54864" cy="1280160"/>
          </a:xfrm>
          <a:prstGeom prst="rect">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4892040" y="3200400"/>
            <a:ext cx="457200" cy="457200"/>
          </a:xfrm>
          <a:prstGeom prst="rect">
            <a:avLst/>
          </a:prstGeom>
        </p:spPr>
      </p:pic>
      <p:sp>
        <p:nvSpPr>
          <p:cNvPr id="23" name="Text 17"/>
          <p:cNvSpPr/>
          <p:nvPr/>
        </p:nvSpPr>
        <p:spPr>
          <a:xfrm>
            <a:off x="5486400" y="2926080"/>
            <a:ext cx="2926080" cy="411480"/>
          </a:xfrm>
          <a:prstGeom prst="rect">
            <a:avLst/>
          </a:prstGeom>
          <a:noFill/>
          <a:ln/>
        </p:spPr>
        <p:txBody>
          <a:bodyPr wrap="square"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横展開の仕組みづくり</a:t>
            </a:r>
            <a:endParaRPr lang="en-US" sz="1300" dirty="0"/>
          </a:p>
        </p:txBody>
      </p:sp>
      <p:sp>
        <p:nvSpPr>
          <p:cNvPr id="24" name="Text 18"/>
          <p:cNvSpPr/>
          <p:nvPr/>
        </p:nvSpPr>
        <p:spPr>
          <a:xfrm>
            <a:off x="5486400" y="3383280"/>
            <a:ext cx="2926080" cy="594360"/>
          </a:xfrm>
          <a:prstGeom prst="rect">
            <a:avLst/>
          </a:prstGeom>
          <a:noFill/>
          <a:ln/>
        </p:spPr>
        <p:txBody>
          <a:bodyPr wrap="square" rtlCol="0" anchor="t"/>
          <a:lstStyle/>
          <a:p>
            <a:pPr indent="0" marL="0">
              <a:lnSpc>
                <a:spcPct val="130000"/>
              </a:lnSpc>
              <a:buNone/>
            </a:pPr>
            <a:r>
              <a:rPr lang="en-US" sz="1050" dirty="0">
                <a:solidFill>
                  <a:srgbClr val="64748B"/>
                </a:solidFill>
                <a:latin typeface="Calibri" pitchFamily="34" charset="0"/>
                <a:ea typeface="Calibri" pitchFamily="34" charset="-122"/>
                <a:cs typeface="Calibri" pitchFamily="34" charset="-120"/>
              </a:rPr>
              <a:t>社内共有会の設計、ナレッジベースの構築で成果が自然に広がる仕組みを作る。</a:t>
            </a:r>
            <a:endParaRPr lang="en-US" sz="1050" dirty="0"/>
          </a:p>
        </p:txBody>
      </p:sp>
      <p:sp>
        <p:nvSpPr>
          <p:cNvPr id="25" name="Text 19"/>
          <p:cNvSpPr/>
          <p:nvPr/>
        </p:nvSpPr>
        <p:spPr>
          <a:xfrm>
            <a:off x="457200" y="4480560"/>
            <a:ext cx="82296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PHASE 3はテンプレート型ではなく、PHASE 1・2の成果をもとに個別設計する。</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ソリューション提案</a:t>
            </a:r>
            <a:endParaRPr lang="en-US" sz="2200" dirty="0"/>
          </a:p>
        </p:txBody>
      </p:sp>
      <p:sp>
        <p:nvSpPr>
          <p:cNvPr id="4" name="Shape 2"/>
          <p:cNvSpPr/>
          <p:nvPr/>
        </p:nvSpPr>
        <p:spPr>
          <a:xfrm>
            <a:off x="457200" y="914400"/>
            <a:ext cx="8229600" cy="914400"/>
          </a:xfrm>
          <a:prstGeom prst="rect">
            <a:avLst/>
          </a:prstGeom>
          <a:solidFill>
            <a:srgbClr val="F0FDFA"/>
          </a:solidFill>
          <a:ln/>
        </p:spPr>
      </p:sp>
      <p:sp>
        <p:nvSpPr>
          <p:cNvPr id="5" name="Shape 3"/>
          <p:cNvSpPr/>
          <p:nvPr/>
        </p:nvSpPr>
        <p:spPr>
          <a:xfrm>
            <a:off x="457200" y="914400"/>
            <a:ext cx="73152" cy="914400"/>
          </a:xfrm>
          <a:prstGeom prst="rect">
            <a:avLst/>
          </a:prstGeom>
          <a:solidFill>
            <a:srgbClr val="0D9488"/>
          </a:solidFill>
          <a:ln/>
        </p:spPr>
      </p:sp>
      <p:sp>
        <p:nvSpPr>
          <p:cNvPr id="6" name="Text 4"/>
          <p:cNvSpPr/>
          <p:nvPr/>
        </p:nvSpPr>
        <p:spPr>
          <a:xfrm>
            <a:off x="777240" y="914400"/>
            <a:ext cx="7680960" cy="914400"/>
          </a:xfrm>
          <a:prstGeom prst="rect">
            <a:avLst/>
          </a:prstGeom>
          <a:noFill/>
          <a:ln/>
        </p:spPr>
        <p:txBody>
          <a:bodyPr wrap="square" rtlCol="0" anchor="ctr"/>
          <a:lstStyle/>
          <a:p>
            <a:pPr indent="0" marL="0">
              <a:lnSpc>
                <a:spcPct val="150000"/>
              </a:lnSpc>
              <a:buNone/>
            </a:pPr>
            <a:r>
              <a:rPr lang="en-US" sz="1300" dirty="0">
                <a:solidFill>
                  <a:srgbClr val="1E293B"/>
                </a:solidFill>
                <a:latin typeface="Calibri" pitchFamily="34" charset="0"/>
                <a:ea typeface="Calibri" pitchFamily="34" charset="-122"/>
                <a:cs typeface="Calibri" pitchFamily="34" charset="-120"/>
              </a:rPr>
              <a:t>研修や伴走支援でクライアントの業務を深く理解した上で提案するため、</a:t>
            </a:r>
            <a:endParaRPr lang="en-US" sz="1300" dirty="0"/>
          </a:p>
          <a:p>
            <a:pPr indent="0" marL="0">
              <a:lnSpc>
                <a:spcPct val="150000"/>
              </a:lnSpc>
              <a:buNone/>
            </a:pPr>
            <a:r>
              <a:rPr lang="en-US" sz="1300" dirty="0">
                <a:solidFill>
                  <a:srgbClr val="1E293B"/>
                </a:solidFill>
                <a:latin typeface="Calibri" pitchFamily="34" charset="0"/>
                <a:ea typeface="Calibri" pitchFamily="34" charset="-122"/>
                <a:cs typeface="Calibri" pitchFamily="34" charset="-120"/>
              </a:rPr>
              <a:t>「導入したが現場で使われない」というありがちな失敗を回避できる。</a:t>
            </a:r>
            <a:endParaRPr lang="en-US" sz="1300" dirty="0"/>
          </a:p>
        </p:txBody>
      </p:sp>
      <p:sp>
        <p:nvSpPr>
          <p:cNvPr id="7" name="Text 5"/>
          <p:cNvSpPr/>
          <p:nvPr/>
        </p:nvSpPr>
        <p:spPr>
          <a:xfrm>
            <a:off x="457200" y="2103120"/>
            <a:ext cx="1828800" cy="36576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対応例</a:t>
            </a:r>
            <a:endParaRPr lang="en-US" sz="1300" dirty="0"/>
          </a:p>
        </p:txBody>
      </p:sp>
      <p:sp>
        <p:nvSpPr>
          <p:cNvPr id="8" name="Shape 6"/>
          <p:cNvSpPr/>
          <p:nvPr/>
        </p:nvSpPr>
        <p:spPr>
          <a:xfrm>
            <a:off x="457200" y="2560320"/>
            <a:ext cx="192024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9" name="Text 7"/>
          <p:cNvSpPr/>
          <p:nvPr/>
        </p:nvSpPr>
        <p:spPr>
          <a:xfrm>
            <a:off x="457200" y="2560320"/>
            <a:ext cx="1920240" cy="548640"/>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AIチャットボット構築</a:t>
            </a:r>
            <a:endParaRPr lang="en-US" sz="1050" dirty="0"/>
          </a:p>
        </p:txBody>
      </p:sp>
      <p:sp>
        <p:nvSpPr>
          <p:cNvPr id="10" name="Shape 8"/>
          <p:cNvSpPr/>
          <p:nvPr/>
        </p:nvSpPr>
        <p:spPr>
          <a:xfrm>
            <a:off x="2560320" y="2560320"/>
            <a:ext cx="192024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1" name="Text 9"/>
          <p:cNvSpPr/>
          <p:nvPr/>
        </p:nvSpPr>
        <p:spPr>
          <a:xfrm>
            <a:off x="2560320" y="2560320"/>
            <a:ext cx="1920240" cy="548640"/>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業務自動化ワークフロー開発</a:t>
            </a:r>
            <a:endParaRPr lang="en-US" sz="1050" dirty="0"/>
          </a:p>
        </p:txBody>
      </p:sp>
      <p:sp>
        <p:nvSpPr>
          <p:cNvPr id="12" name="Shape 10"/>
          <p:cNvSpPr/>
          <p:nvPr/>
        </p:nvSpPr>
        <p:spPr>
          <a:xfrm>
            <a:off x="4663440" y="2560320"/>
            <a:ext cx="192024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3" name="Text 11"/>
          <p:cNvSpPr/>
          <p:nvPr/>
        </p:nvSpPr>
        <p:spPr>
          <a:xfrm>
            <a:off x="4663440" y="2560320"/>
            <a:ext cx="1920240" cy="548640"/>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社内ナレッジベース構築</a:t>
            </a:r>
            <a:endParaRPr lang="en-US" sz="1050" dirty="0"/>
          </a:p>
        </p:txBody>
      </p:sp>
      <p:sp>
        <p:nvSpPr>
          <p:cNvPr id="14" name="Shape 12"/>
          <p:cNvSpPr/>
          <p:nvPr/>
        </p:nvSpPr>
        <p:spPr>
          <a:xfrm>
            <a:off x="6766560" y="2560320"/>
            <a:ext cx="1920240" cy="548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5" name="Text 13"/>
          <p:cNvSpPr/>
          <p:nvPr/>
        </p:nvSpPr>
        <p:spPr>
          <a:xfrm>
            <a:off x="6766560" y="2560320"/>
            <a:ext cx="1920240" cy="548640"/>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AIエージェント設計・開発</a:t>
            </a:r>
            <a:endParaRPr lang="en-US" sz="1050" dirty="0"/>
          </a:p>
        </p:txBody>
      </p:sp>
      <p:sp>
        <p:nvSpPr>
          <p:cNvPr id="16" name="Text 14"/>
          <p:cNvSpPr/>
          <p:nvPr/>
        </p:nvSpPr>
        <p:spPr>
          <a:xfrm>
            <a:off x="457200" y="3383280"/>
            <a:ext cx="1828800" cy="36576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対応ツール</a:t>
            </a:r>
            <a:endParaRPr lang="en-US" sz="1300" dirty="0"/>
          </a:p>
        </p:txBody>
      </p:sp>
      <p:sp>
        <p:nvSpPr>
          <p:cNvPr id="17" name="Shape 15"/>
          <p:cNvSpPr/>
          <p:nvPr/>
        </p:nvSpPr>
        <p:spPr>
          <a:xfrm>
            <a:off x="457200" y="3794760"/>
            <a:ext cx="1280160" cy="365760"/>
          </a:xfrm>
          <a:prstGeom prst="rect">
            <a:avLst/>
          </a:prstGeom>
          <a:solidFill>
            <a:srgbClr val="F0FDFA"/>
          </a:solidFill>
          <a:ln/>
        </p:spPr>
      </p:sp>
      <p:sp>
        <p:nvSpPr>
          <p:cNvPr id="18" name="Text 16"/>
          <p:cNvSpPr/>
          <p:nvPr/>
        </p:nvSpPr>
        <p:spPr>
          <a:xfrm>
            <a:off x="457200" y="379476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ChatGPT</a:t>
            </a:r>
            <a:endParaRPr lang="en-US" sz="900" dirty="0"/>
          </a:p>
        </p:txBody>
      </p:sp>
      <p:sp>
        <p:nvSpPr>
          <p:cNvPr id="19" name="Shape 17"/>
          <p:cNvSpPr/>
          <p:nvPr/>
        </p:nvSpPr>
        <p:spPr>
          <a:xfrm>
            <a:off x="1874520" y="3794760"/>
            <a:ext cx="1280160" cy="365760"/>
          </a:xfrm>
          <a:prstGeom prst="rect">
            <a:avLst/>
          </a:prstGeom>
          <a:solidFill>
            <a:srgbClr val="F0FDFA"/>
          </a:solidFill>
          <a:ln/>
        </p:spPr>
      </p:sp>
      <p:sp>
        <p:nvSpPr>
          <p:cNvPr id="20" name="Text 18"/>
          <p:cNvSpPr/>
          <p:nvPr/>
        </p:nvSpPr>
        <p:spPr>
          <a:xfrm>
            <a:off x="1874520" y="379476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Claude</a:t>
            </a:r>
            <a:endParaRPr lang="en-US" sz="900" dirty="0"/>
          </a:p>
        </p:txBody>
      </p:sp>
      <p:sp>
        <p:nvSpPr>
          <p:cNvPr id="21" name="Shape 19"/>
          <p:cNvSpPr/>
          <p:nvPr/>
        </p:nvSpPr>
        <p:spPr>
          <a:xfrm>
            <a:off x="3291840" y="3794760"/>
            <a:ext cx="1280160" cy="365760"/>
          </a:xfrm>
          <a:prstGeom prst="rect">
            <a:avLst/>
          </a:prstGeom>
          <a:solidFill>
            <a:srgbClr val="F0FDFA"/>
          </a:solidFill>
          <a:ln/>
        </p:spPr>
      </p:sp>
      <p:sp>
        <p:nvSpPr>
          <p:cNvPr id="22" name="Text 20"/>
          <p:cNvSpPr/>
          <p:nvPr/>
        </p:nvSpPr>
        <p:spPr>
          <a:xfrm>
            <a:off x="3291840" y="379476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Gemini</a:t>
            </a:r>
            <a:endParaRPr lang="en-US" sz="900" dirty="0"/>
          </a:p>
        </p:txBody>
      </p:sp>
      <p:sp>
        <p:nvSpPr>
          <p:cNvPr id="23" name="Shape 21"/>
          <p:cNvSpPr/>
          <p:nvPr/>
        </p:nvSpPr>
        <p:spPr>
          <a:xfrm>
            <a:off x="4709160" y="3794760"/>
            <a:ext cx="1280160" cy="365760"/>
          </a:xfrm>
          <a:prstGeom prst="rect">
            <a:avLst/>
          </a:prstGeom>
          <a:solidFill>
            <a:srgbClr val="F0FDFA"/>
          </a:solidFill>
          <a:ln/>
        </p:spPr>
      </p:sp>
      <p:sp>
        <p:nvSpPr>
          <p:cNvPr id="24" name="Text 22"/>
          <p:cNvSpPr/>
          <p:nvPr/>
        </p:nvSpPr>
        <p:spPr>
          <a:xfrm>
            <a:off x="4709160" y="379476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Copilot</a:t>
            </a:r>
            <a:endParaRPr lang="en-US" sz="900" dirty="0"/>
          </a:p>
        </p:txBody>
      </p:sp>
      <p:sp>
        <p:nvSpPr>
          <p:cNvPr id="25" name="Shape 23"/>
          <p:cNvSpPr/>
          <p:nvPr/>
        </p:nvSpPr>
        <p:spPr>
          <a:xfrm>
            <a:off x="6126480" y="3794760"/>
            <a:ext cx="1280160" cy="365760"/>
          </a:xfrm>
          <a:prstGeom prst="rect">
            <a:avLst/>
          </a:prstGeom>
          <a:solidFill>
            <a:srgbClr val="F0FDFA"/>
          </a:solidFill>
          <a:ln/>
        </p:spPr>
      </p:sp>
      <p:sp>
        <p:nvSpPr>
          <p:cNvPr id="26" name="Text 24"/>
          <p:cNvSpPr/>
          <p:nvPr/>
        </p:nvSpPr>
        <p:spPr>
          <a:xfrm>
            <a:off x="6126480" y="379476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n8n</a:t>
            </a:r>
            <a:endParaRPr lang="en-US" sz="900" dirty="0"/>
          </a:p>
        </p:txBody>
      </p:sp>
      <p:sp>
        <p:nvSpPr>
          <p:cNvPr id="27" name="Shape 25"/>
          <p:cNvSpPr/>
          <p:nvPr/>
        </p:nvSpPr>
        <p:spPr>
          <a:xfrm>
            <a:off x="7543800" y="3794760"/>
            <a:ext cx="1280160" cy="365760"/>
          </a:xfrm>
          <a:prstGeom prst="rect">
            <a:avLst/>
          </a:prstGeom>
          <a:solidFill>
            <a:srgbClr val="F0FDFA"/>
          </a:solidFill>
          <a:ln/>
        </p:spPr>
      </p:sp>
      <p:sp>
        <p:nvSpPr>
          <p:cNvPr id="28" name="Text 26"/>
          <p:cNvSpPr/>
          <p:nvPr/>
        </p:nvSpPr>
        <p:spPr>
          <a:xfrm>
            <a:off x="7543800" y="379476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Dify</a:t>
            </a:r>
            <a:endParaRPr lang="en-US" sz="900" dirty="0"/>
          </a:p>
        </p:txBody>
      </p:sp>
      <p:sp>
        <p:nvSpPr>
          <p:cNvPr id="29" name="Shape 27"/>
          <p:cNvSpPr/>
          <p:nvPr/>
        </p:nvSpPr>
        <p:spPr>
          <a:xfrm>
            <a:off x="457200" y="4297680"/>
            <a:ext cx="1280160" cy="365760"/>
          </a:xfrm>
          <a:prstGeom prst="rect">
            <a:avLst/>
          </a:prstGeom>
          <a:solidFill>
            <a:srgbClr val="F0FDFA"/>
          </a:solidFill>
          <a:ln/>
        </p:spPr>
      </p:sp>
      <p:sp>
        <p:nvSpPr>
          <p:cNvPr id="30" name="Text 28"/>
          <p:cNvSpPr/>
          <p:nvPr/>
        </p:nvSpPr>
        <p:spPr>
          <a:xfrm>
            <a:off x="457200" y="429768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Zapier</a:t>
            </a:r>
            <a:endParaRPr lang="en-US" sz="900" dirty="0"/>
          </a:p>
        </p:txBody>
      </p:sp>
      <p:sp>
        <p:nvSpPr>
          <p:cNvPr id="31" name="Shape 29"/>
          <p:cNvSpPr/>
          <p:nvPr/>
        </p:nvSpPr>
        <p:spPr>
          <a:xfrm>
            <a:off x="1874520" y="4297680"/>
            <a:ext cx="1280160" cy="365760"/>
          </a:xfrm>
          <a:prstGeom prst="rect">
            <a:avLst/>
          </a:prstGeom>
          <a:solidFill>
            <a:srgbClr val="F0FDFA"/>
          </a:solidFill>
          <a:ln/>
        </p:spPr>
      </p:sp>
      <p:sp>
        <p:nvSpPr>
          <p:cNvPr id="32" name="Text 30"/>
          <p:cNvSpPr/>
          <p:nvPr/>
        </p:nvSpPr>
        <p:spPr>
          <a:xfrm>
            <a:off x="1874520" y="429768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Notion AI</a:t>
            </a:r>
            <a:endParaRPr lang="en-US" sz="900" dirty="0"/>
          </a:p>
        </p:txBody>
      </p:sp>
      <p:sp>
        <p:nvSpPr>
          <p:cNvPr id="33" name="Shape 31"/>
          <p:cNvSpPr/>
          <p:nvPr/>
        </p:nvSpPr>
        <p:spPr>
          <a:xfrm>
            <a:off x="3291840" y="4297680"/>
            <a:ext cx="1280160" cy="365760"/>
          </a:xfrm>
          <a:prstGeom prst="rect">
            <a:avLst/>
          </a:prstGeom>
          <a:solidFill>
            <a:srgbClr val="F0FDFA"/>
          </a:solidFill>
          <a:ln/>
        </p:spPr>
      </p:sp>
      <p:sp>
        <p:nvSpPr>
          <p:cNvPr id="34" name="Text 32"/>
          <p:cNvSpPr/>
          <p:nvPr/>
        </p:nvSpPr>
        <p:spPr>
          <a:xfrm>
            <a:off x="3291840" y="429768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Claude Code</a:t>
            </a:r>
            <a:endParaRPr lang="en-US" sz="900" dirty="0"/>
          </a:p>
        </p:txBody>
      </p:sp>
      <p:sp>
        <p:nvSpPr>
          <p:cNvPr id="35" name="Shape 33"/>
          <p:cNvSpPr/>
          <p:nvPr/>
        </p:nvSpPr>
        <p:spPr>
          <a:xfrm>
            <a:off x="4709160" y="4297680"/>
            <a:ext cx="1280160" cy="365760"/>
          </a:xfrm>
          <a:prstGeom prst="rect">
            <a:avLst/>
          </a:prstGeom>
          <a:solidFill>
            <a:srgbClr val="F0FDFA"/>
          </a:solidFill>
          <a:ln/>
        </p:spPr>
      </p:sp>
      <p:sp>
        <p:nvSpPr>
          <p:cNvPr id="36" name="Text 34"/>
          <p:cNvSpPr/>
          <p:nvPr/>
        </p:nvSpPr>
        <p:spPr>
          <a:xfrm>
            <a:off x="4709160" y="429768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Cursor</a:t>
            </a:r>
            <a:endParaRPr lang="en-US" sz="900" dirty="0"/>
          </a:p>
        </p:txBody>
      </p:sp>
      <p:sp>
        <p:nvSpPr>
          <p:cNvPr id="37" name="Shape 35"/>
          <p:cNvSpPr/>
          <p:nvPr/>
        </p:nvSpPr>
        <p:spPr>
          <a:xfrm>
            <a:off x="6126480" y="4297680"/>
            <a:ext cx="1280160" cy="365760"/>
          </a:xfrm>
          <a:prstGeom prst="rect">
            <a:avLst/>
          </a:prstGeom>
          <a:solidFill>
            <a:srgbClr val="F0FDFA"/>
          </a:solidFill>
          <a:ln/>
        </p:spPr>
      </p:sp>
      <p:sp>
        <p:nvSpPr>
          <p:cNvPr id="38" name="Text 36"/>
          <p:cNvSpPr/>
          <p:nvPr/>
        </p:nvSpPr>
        <p:spPr>
          <a:xfrm>
            <a:off x="6126480" y="4297680"/>
            <a:ext cx="1280160" cy="365760"/>
          </a:xfrm>
          <a:prstGeom prst="rect">
            <a:avLst/>
          </a:prstGeom>
          <a:noFill/>
          <a:ln/>
        </p:spPr>
        <p:txBody>
          <a:bodyPr wrap="square" rtlCol="0" anchor="ctr"/>
          <a:lstStyle/>
          <a:p>
            <a:pPr algn="ctr" indent="0" marL="0">
              <a:buNone/>
            </a:pPr>
            <a:r>
              <a:rPr lang="en-US" sz="900" dirty="0">
                <a:solidFill>
                  <a:srgbClr val="0D9488"/>
                </a:solidFill>
                <a:latin typeface="Calibri" pitchFamily="34" charset="0"/>
                <a:ea typeface="Calibri" pitchFamily="34" charset="-122"/>
                <a:cs typeface="Calibri" pitchFamily="34" charset="-120"/>
              </a:rPr>
              <a:t>OpenClaw</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731520" y="1463040"/>
            <a:ext cx="7315200" cy="457200"/>
          </a:xfrm>
          <a:prstGeom prst="rect">
            <a:avLst/>
          </a:prstGeom>
          <a:noFill/>
          <a:ln/>
        </p:spPr>
        <p:txBody>
          <a:bodyPr wrap="square" rtlCol="0" anchor="ctr"/>
          <a:lstStyle/>
          <a:p>
            <a:pPr indent="0" marL="0">
              <a:buNone/>
            </a:pPr>
            <a:r>
              <a:rPr lang="en-US" sz="1400" b="1" spc="400" kern="0" dirty="0">
                <a:solidFill>
                  <a:srgbClr val="14B8A6"/>
                </a:solidFill>
                <a:latin typeface="Calibri" pitchFamily="34" charset="0"/>
                <a:ea typeface="Calibri" pitchFamily="34" charset="-122"/>
                <a:cs typeface="Calibri" pitchFamily="34" charset="-120"/>
              </a:rPr>
              <a:t>SECTION 07</a:t>
            </a:r>
            <a:endParaRPr lang="en-US" sz="1400" dirty="0"/>
          </a:p>
        </p:txBody>
      </p:sp>
      <p:sp>
        <p:nvSpPr>
          <p:cNvPr id="3" name="Text 1"/>
          <p:cNvSpPr/>
          <p:nvPr/>
        </p:nvSpPr>
        <p:spPr>
          <a:xfrm>
            <a:off x="731520" y="1920240"/>
            <a:ext cx="768096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料金体系・ご支援の流れ</a:t>
            </a:r>
            <a:endParaRPr lang="en-US" sz="3600" dirty="0"/>
          </a:p>
        </p:txBody>
      </p:sp>
      <p:sp>
        <p:nvSpPr>
          <p:cNvPr id="4" name="Shape 2"/>
          <p:cNvSpPr/>
          <p:nvPr/>
        </p:nvSpPr>
        <p:spPr>
          <a:xfrm>
            <a:off x="731520" y="3108960"/>
            <a:ext cx="1097280" cy="54864"/>
          </a:xfrm>
          <a:prstGeom prst="rect">
            <a:avLst/>
          </a:prstGeom>
          <a:solidFill>
            <a:srgbClr val="0D9488"/>
          </a:solidFill>
          <a:ln/>
        </p:spPr>
      </p:sp>
      <p:sp>
        <p:nvSpPr>
          <p:cNvPr id="5" name="Text 3"/>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料金体系</a:t>
            </a:r>
            <a:endParaRPr lang="en-US" sz="2200" dirty="0"/>
          </a:p>
        </p:txBody>
      </p:sp>
      <p:sp>
        <p:nvSpPr>
          <p:cNvPr id="4" name="Shape 2"/>
          <p:cNvSpPr/>
          <p:nvPr/>
        </p:nvSpPr>
        <p:spPr>
          <a:xfrm>
            <a:off x="457200" y="1005840"/>
            <a:ext cx="8229600" cy="502920"/>
          </a:xfrm>
          <a:prstGeom prst="rect">
            <a:avLst/>
          </a:prstGeom>
          <a:solidFill>
            <a:srgbClr val="0D9488"/>
          </a:solidFill>
          <a:ln/>
        </p:spPr>
      </p:sp>
      <p:sp>
        <p:nvSpPr>
          <p:cNvPr id="5" name="Text 3"/>
          <p:cNvSpPr/>
          <p:nvPr/>
        </p:nvSpPr>
        <p:spPr>
          <a:xfrm>
            <a:off x="457200" y="1005840"/>
            <a:ext cx="32004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サービス</a:t>
            </a:r>
            <a:endParaRPr lang="en-US" sz="1200" dirty="0"/>
          </a:p>
        </p:txBody>
      </p:sp>
      <p:sp>
        <p:nvSpPr>
          <p:cNvPr id="6" name="Text 4"/>
          <p:cNvSpPr/>
          <p:nvPr/>
        </p:nvSpPr>
        <p:spPr>
          <a:xfrm>
            <a:off x="3657600" y="1005840"/>
            <a:ext cx="2011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料金モデル</a:t>
            </a:r>
            <a:endParaRPr lang="en-US" sz="1200" dirty="0"/>
          </a:p>
        </p:txBody>
      </p:sp>
      <p:sp>
        <p:nvSpPr>
          <p:cNvPr id="7" name="Text 5"/>
          <p:cNvSpPr/>
          <p:nvPr/>
        </p:nvSpPr>
        <p:spPr>
          <a:xfrm>
            <a:off x="5669280" y="1005840"/>
            <a:ext cx="30175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目安</a:t>
            </a:r>
            <a:endParaRPr lang="en-US" sz="1200" dirty="0"/>
          </a:p>
        </p:txBody>
      </p:sp>
      <p:sp>
        <p:nvSpPr>
          <p:cNvPr id="8" name="Shape 6"/>
          <p:cNvSpPr/>
          <p:nvPr/>
        </p:nvSpPr>
        <p:spPr>
          <a:xfrm>
            <a:off x="457200" y="1508760"/>
            <a:ext cx="8229600" cy="502920"/>
          </a:xfrm>
          <a:prstGeom prst="rect">
            <a:avLst/>
          </a:prstGeom>
          <a:solidFill>
            <a:srgbClr val="FFFFFF"/>
          </a:solidFill>
          <a:ln/>
        </p:spPr>
      </p:sp>
      <p:sp>
        <p:nvSpPr>
          <p:cNvPr id="9" name="Text 7"/>
          <p:cNvSpPr/>
          <p:nvPr/>
        </p:nvSpPr>
        <p:spPr>
          <a:xfrm>
            <a:off x="640080" y="1508760"/>
            <a:ext cx="3017520" cy="5029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サブスクリプション型AI研修</a:t>
            </a:r>
            <a:endParaRPr lang="en-US" sz="1100" dirty="0"/>
          </a:p>
        </p:txBody>
      </p:sp>
      <p:sp>
        <p:nvSpPr>
          <p:cNvPr id="10" name="Text 8"/>
          <p:cNvSpPr/>
          <p:nvPr/>
        </p:nvSpPr>
        <p:spPr>
          <a:xfrm>
            <a:off x="3657600" y="1508760"/>
            <a:ext cx="2011680" cy="5029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月額（企業単位）</a:t>
            </a:r>
            <a:endParaRPr lang="en-US" sz="1100" dirty="0"/>
          </a:p>
        </p:txBody>
      </p:sp>
      <p:sp>
        <p:nvSpPr>
          <p:cNvPr id="11" name="Text 9"/>
          <p:cNvSpPr/>
          <p:nvPr/>
        </p:nvSpPr>
        <p:spPr>
          <a:xfrm>
            <a:off x="5669280" y="1508760"/>
            <a:ext cx="3017520" cy="50292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助成金活用で実質負担を最小化</a:t>
            </a:r>
            <a:endParaRPr lang="en-US" sz="1100" dirty="0"/>
          </a:p>
        </p:txBody>
      </p:sp>
      <p:sp>
        <p:nvSpPr>
          <p:cNvPr id="12" name="Shape 10"/>
          <p:cNvSpPr/>
          <p:nvPr/>
        </p:nvSpPr>
        <p:spPr>
          <a:xfrm>
            <a:off x="457200" y="2103120"/>
            <a:ext cx="8229600" cy="502920"/>
          </a:xfrm>
          <a:prstGeom prst="rect">
            <a:avLst/>
          </a:prstGeom>
          <a:solidFill>
            <a:srgbClr val="F8FAFC"/>
          </a:solidFill>
          <a:ln/>
        </p:spPr>
      </p:sp>
      <p:sp>
        <p:nvSpPr>
          <p:cNvPr id="13" name="Text 11"/>
          <p:cNvSpPr/>
          <p:nvPr/>
        </p:nvSpPr>
        <p:spPr>
          <a:xfrm>
            <a:off x="640080" y="2103120"/>
            <a:ext cx="3017520" cy="5029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助成金対応研修パッケージ</a:t>
            </a:r>
            <a:endParaRPr lang="en-US" sz="1100" dirty="0"/>
          </a:p>
        </p:txBody>
      </p:sp>
      <p:sp>
        <p:nvSpPr>
          <p:cNvPr id="14" name="Text 12"/>
          <p:cNvSpPr/>
          <p:nvPr/>
        </p:nvSpPr>
        <p:spPr>
          <a:xfrm>
            <a:off x="3657600" y="2103120"/>
            <a:ext cx="2011680" cy="5029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単発（パック単位）</a:t>
            </a:r>
            <a:endParaRPr lang="en-US" sz="1100" dirty="0"/>
          </a:p>
        </p:txBody>
      </p:sp>
      <p:sp>
        <p:nvSpPr>
          <p:cNvPr id="15" name="Text 13"/>
          <p:cNvSpPr/>
          <p:nvPr/>
        </p:nvSpPr>
        <p:spPr>
          <a:xfrm>
            <a:off x="5669280" y="2103120"/>
            <a:ext cx="3017520" cy="50292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助成金上限額を最大限活用</a:t>
            </a:r>
            <a:endParaRPr lang="en-US" sz="1100" dirty="0"/>
          </a:p>
        </p:txBody>
      </p:sp>
      <p:sp>
        <p:nvSpPr>
          <p:cNvPr id="16" name="Shape 14"/>
          <p:cNvSpPr/>
          <p:nvPr/>
        </p:nvSpPr>
        <p:spPr>
          <a:xfrm>
            <a:off x="457200" y="2697480"/>
            <a:ext cx="8229600" cy="502920"/>
          </a:xfrm>
          <a:prstGeom prst="rect">
            <a:avLst/>
          </a:prstGeom>
          <a:solidFill>
            <a:srgbClr val="FFFFFF"/>
          </a:solidFill>
          <a:ln/>
        </p:spPr>
      </p:sp>
      <p:sp>
        <p:nvSpPr>
          <p:cNvPr id="17" name="Text 15"/>
          <p:cNvSpPr/>
          <p:nvPr/>
        </p:nvSpPr>
        <p:spPr>
          <a:xfrm>
            <a:off x="640080" y="2697480"/>
            <a:ext cx="3017520" cy="5029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伴走支援</a:t>
            </a:r>
            <a:endParaRPr lang="en-US" sz="1100" dirty="0"/>
          </a:p>
        </p:txBody>
      </p:sp>
      <p:sp>
        <p:nvSpPr>
          <p:cNvPr id="18" name="Text 16"/>
          <p:cNvSpPr/>
          <p:nvPr/>
        </p:nvSpPr>
        <p:spPr>
          <a:xfrm>
            <a:off x="3657600" y="2697480"/>
            <a:ext cx="2011680" cy="5029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月額</a:t>
            </a:r>
            <a:endParaRPr lang="en-US" sz="1100" dirty="0"/>
          </a:p>
        </p:txBody>
      </p:sp>
      <p:sp>
        <p:nvSpPr>
          <p:cNvPr id="19" name="Text 17"/>
          <p:cNvSpPr/>
          <p:nvPr/>
        </p:nvSpPr>
        <p:spPr>
          <a:xfrm>
            <a:off x="5669280" y="2697480"/>
            <a:ext cx="3017520" cy="50292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月額10万円〜</a:t>
            </a:r>
            <a:endParaRPr lang="en-US" sz="1100" dirty="0"/>
          </a:p>
        </p:txBody>
      </p:sp>
      <p:sp>
        <p:nvSpPr>
          <p:cNvPr id="20" name="Shape 18"/>
          <p:cNvSpPr/>
          <p:nvPr/>
        </p:nvSpPr>
        <p:spPr>
          <a:xfrm>
            <a:off x="457200" y="3291840"/>
            <a:ext cx="8229600" cy="502920"/>
          </a:xfrm>
          <a:prstGeom prst="rect">
            <a:avLst/>
          </a:prstGeom>
          <a:solidFill>
            <a:srgbClr val="F8FAFC"/>
          </a:solidFill>
          <a:ln/>
        </p:spPr>
      </p:sp>
      <p:sp>
        <p:nvSpPr>
          <p:cNvPr id="21" name="Text 19"/>
          <p:cNvSpPr/>
          <p:nvPr/>
        </p:nvSpPr>
        <p:spPr>
          <a:xfrm>
            <a:off x="640080" y="3291840"/>
            <a:ext cx="3017520" cy="5029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ソリューション提案</a:t>
            </a:r>
            <a:endParaRPr lang="en-US" sz="1100" dirty="0"/>
          </a:p>
        </p:txBody>
      </p:sp>
      <p:sp>
        <p:nvSpPr>
          <p:cNvPr id="22" name="Text 20"/>
          <p:cNvSpPr/>
          <p:nvPr/>
        </p:nvSpPr>
        <p:spPr>
          <a:xfrm>
            <a:off x="3657600" y="3291840"/>
            <a:ext cx="2011680" cy="5029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プロジェクト型</a:t>
            </a:r>
            <a:endParaRPr lang="en-US" sz="1100" dirty="0"/>
          </a:p>
        </p:txBody>
      </p:sp>
      <p:sp>
        <p:nvSpPr>
          <p:cNvPr id="23" name="Text 21"/>
          <p:cNvSpPr/>
          <p:nvPr/>
        </p:nvSpPr>
        <p:spPr>
          <a:xfrm>
            <a:off x="5669280" y="3291840"/>
            <a:ext cx="3017520" cy="50292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個別見積もり</a:t>
            </a:r>
            <a:endParaRPr lang="en-US" sz="1100" dirty="0"/>
          </a:p>
        </p:txBody>
      </p:sp>
      <p:sp>
        <p:nvSpPr>
          <p:cNvPr id="24" name="Shape 22"/>
          <p:cNvSpPr/>
          <p:nvPr/>
        </p:nvSpPr>
        <p:spPr>
          <a:xfrm>
            <a:off x="457200" y="3840480"/>
            <a:ext cx="8229600" cy="731520"/>
          </a:xfrm>
          <a:prstGeom prst="rect">
            <a:avLst/>
          </a:prstGeom>
          <a:solidFill>
            <a:srgbClr val="F0FDFA"/>
          </a:solidFill>
          <a:ln/>
        </p:spPr>
      </p:sp>
      <p:sp>
        <p:nvSpPr>
          <p:cNvPr id="25" name="Text 23"/>
          <p:cNvSpPr/>
          <p:nvPr/>
        </p:nvSpPr>
        <p:spPr>
          <a:xfrm>
            <a:off x="640080" y="3840480"/>
            <a:ext cx="7863840" cy="731520"/>
          </a:xfrm>
          <a:prstGeom prst="rect">
            <a:avLst/>
          </a:prstGeom>
          <a:noFill/>
          <a:ln/>
        </p:spPr>
        <p:txBody>
          <a:bodyPr wrap="square" rtlCol="0" anchor="ctr"/>
          <a:lstStyle/>
          <a:p>
            <a:pPr indent="0" marL="0">
              <a:lnSpc>
                <a:spcPct val="140000"/>
              </a:lnSpc>
              <a:buNone/>
            </a:pPr>
            <a:r>
              <a:rPr lang="en-US" sz="1100" dirty="0">
                <a:solidFill>
                  <a:srgbClr val="0D9488"/>
                </a:solidFill>
                <a:latin typeface="Calibri" pitchFamily="34" charset="0"/>
                <a:ea typeface="Calibri" pitchFamily="34" charset="-122"/>
                <a:cs typeface="Calibri" pitchFamily="34" charset="-120"/>
              </a:rPr>
              <a:t>具体的な金額は無料相談にて、企業ごとにシミュレーションを提示します。</a:t>
            </a:r>
            <a:endParaRPr lang="en-US" sz="1100" dirty="0"/>
          </a:p>
          <a:p>
            <a:pPr indent="0" marL="0">
              <a:lnSpc>
                <a:spcPct val="140000"/>
              </a:lnSpc>
              <a:buNone/>
            </a:pPr>
            <a:r>
              <a:rPr lang="en-US" sz="1100" dirty="0">
                <a:solidFill>
                  <a:srgbClr val="0D9488"/>
                </a:solidFill>
                <a:latin typeface="Calibri" pitchFamily="34" charset="0"/>
                <a:ea typeface="Calibri" pitchFamily="34" charset="-122"/>
                <a:cs typeface="Calibri" pitchFamily="34" charset="-120"/>
              </a:rPr>
              <a:t>助成金を活用した場合の実質負担額は、企業規模・受講人数・適用コースによって異なります。</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ご支援の流れ</a:t>
            </a:r>
            <a:endParaRPr lang="en-US" sz="2200" dirty="0"/>
          </a:p>
        </p:txBody>
      </p:sp>
      <p:sp>
        <p:nvSpPr>
          <p:cNvPr id="4" name="Shape 2"/>
          <p:cNvSpPr/>
          <p:nvPr/>
        </p:nvSpPr>
        <p:spPr>
          <a:xfrm>
            <a:off x="274320" y="1097280"/>
            <a:ext cx="2011680" cy="29260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Text 3"/>
          <p:cNvSpPr/>
          <p:nvPr/>
        </p:nvSpPr>
        <p:spPr>
          <a:xfrm>
            <a:off x="365760" y="1280160"/>
            <a:ext cx="1828800" cy="640080"/>
          </a:xfrm>
          <a:prstGeom prst="rect">
            <a:avLst/>
          </a:prstGeom>
          <a:noFill/>
          <a:ln/>
        </p:spPr>
        <p:txBody>
          <a:bodyPr wrap="square" rtlCol="0" anchor="ctr"/>
          <a:lstStyle/>
          <a:p>
            <a:pPr algn="ctr" indent="0" marL="0">
              <a:buNone/>
            </a:pPr>
            <a:r>
              <a:rPr lang="en-US" sz="3600" b="1" dirty="0">
                <a:solidFill>
                  <a:srgbClr val="14B8A6"/>
                </a:solidFill>
                <a:latin typeface="Trebuchet MS" pitchFamily="34" charset="0"/>
                <a:ea typeface="Trebuchet MS" pitchFamily="34" charset="-122"/>
                <a:cs typeface="Trebuchet MS" pitchFamily="34" charset="-120"/>
              </a:rPr>
              <a:t>01</a:t>
            </a:r>
            <a:endParaRPr lang="en-US" sz="3600" dirty="0"/>
          </a:p>
        </p:txBody>
      </p:sp>
      <p:pic>
        <p:nvPicPr>
          <p:cNvPr id="6" name="Image 0" descr="preencoded.png">    </p:cNvPr>
          <p:cNvPicPr>
            <a:picLocks noChangeAspect="1"/>
          </p:cNvPicPr>
          <p:nvPr/>
        </p:nvPicPr>
        <p:blipFill>
          <a:blip r:embed="rId1"/>
          <a:stretch>
            <a:fillRect/>
          </a:stretch>
        </p:blipFill>
        <p:spPr>
          <a:xfrm>
            <a:off x="1005840" y="2011680"/>
            <a:ext cx="457200" cy="457200"/>
          </a:xfrm>
          <a:prstGeom prst="rect">
            <a:avLst/>
          </a:prstGeom>
        </p:spPr>
      </p:pic>
      <p:sp>
        <p:nvSpPr>
          <p:cNvPr id="7" name="Text 4"/>
          <p:cNvSpPr/>
          <p:nvPr/>
        </p:nvSpPr>
        <p:spPr>
          <a:xfrm>
            <a:off x="365760" y="2560320"/>
            <a:ext cx="1828800" cy="365760"/>
          </a:xfrm>
          <a:prstGeom prst="rect">
            <a:avLst/>
          </a:prstGeom>
          <a:noFill/>
          <a:ln/>
        </p:spPr>
        <p:txBody>
          <a:bodyPr wrap="square"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無料相談</a:t>
            </a:r>
            <a:endParaRPr lang="en-US" sz="1400" dirty="0"/>
          </a:p>
        </p:txBody>
      </p:sp>
      <p:sp>
        <p:nvSpPr>
          <p:cNvPr id="8" name="Text 5"/>
          <p:cNvSpPr/>
          <p:nvPr/>
        </p:nvSpPr>
        <p:spPr>
          <a:xfrm>
            <a:off x="365760" y="3017520"/>
            <a:ext cx="1828800" cy="822960"/>
          </a:xfrm>
          <a:prstGeom prst="rect">
            <a:avLst/>
          </a:prstGeom>
          <a:noFill/>
          <a:ln/>
        </p:spPr>
        <p:txBody>
          <a:bodyPr wrap="square" rtlCol="0" anchor="ctr"/>
          <a:lstStyle/>
          <a:p>
            <a:pPr algn="ctr" indent="0" marL="0">
              <a:lnSpc>
                <a:spcPct val="140000"/>
              </a:lnSpc>
              <a:buNone/>
            </a:pPr>
            <a:r>
              <a:rPr lang="en-US" sz="1000" dirty="0">
                <a:solidFill>
                  <a:srgbClr val="64748B"/>
                </a:solidFill>
                <a:latin typeface="Calibri" pitchFamily="34" charset="0"/>
                <a:ea typeface="Calibri" pitchFamily="34" charset="-122"/>
                <a:cs typeface="Calibri" pitchFamily="34" charset="-120"/>
              </a:rPr>
              <a:t>課題やご要望をヒアリングし、</a:t>
            </a:r>
            <a:endParaRPr lang="en-US" sz="1000" dirty="0"/>
          </a:p>
          <a:p>
            <a:pPr algn="ctr" indent="0" marL="0">
              <a:lnSpc>
                <a:spcPct val="140000"/>
              </a:lnSpc>
              <a:buNone/>
            </a:pPr>
            <a:r>
              <a:rPr lang="en-US" sz="1000" dirty="0">
                <a:solidFill>
                  <a:srgbClr val="64748B"/>
                </a:solidFill>
                <a:latin typeface="Calibri" pitchFamily="34" charset="0"/>
                <a:ea typeface="Calibri" pitchFamily="34" charset="-122"/>
                <a:cs typeface="Calibri" pitchFamily="34" charset="-120"/>
              </a:rPr>
              <a:t>最適なサービスの組み合わせを提案</a:t>
            </a:r>
            <a:endParaRPr lang="en-US" sz="1000" dirty="0"/>
          </a:p>
        </p:txBody>
      </p:sp>
      <p:pic>
        <p:nvPicPr>
          <p:cNvPr id="9" name="Image 1" descr="preencoded.png">    </p:cNvPr>
          <p:cNvPicPr>
            <a:picLocks noChangeAspect="1"/>
          </p:cNvPicPr>
          <p:nvPr/>
        </p:nvPicPr>
        <p:blipFill>
          <a:blip r:embed="rId2"/>
          <a:stretch>
            <a:fillRect/>
          </a:stretch>
        </p:blipFill>
        <p:spPr>
          <a:xfrm>
            <a:off x="2377440" y="2423160"/>
            <a:ext cx="182880" cy="182880"/>
          </a:xfrm>
          <a:prstGeom prst="rect">
            <a:avLst/>
          </a:prstGeom>
        </p:spPr>
      </p:pic>
      <p:sp>
        <p:nvSpPr>
          <p:cNvPr id="10" name="Shape 6"/>
          <p:cNvSpPr/>
          <p:nvPr/>
        </p:nvSpPr>
        <p:spPr>
          <a:xfrm>
            <a:off x="2468880" y="1097280"/>
            <a:ext cx="2011680" cy="29260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1" name="Text 7"/>
          <p:cNvSpPr/>
          <p:nvPr/>
        </p:nvSpPr>
        <p:spPr>
          <a:xfrm>
            <a:off x="2560320" y="1280160"/>
            <a:ext cx="1828800" cy="640080"/>
          </a:xfrm>
          <a:prstGeom prst="rect">
            <a:avLst/>
          </a:prstGeom>
          <a:noFill/>
          <a:ln/>
        </p:spPr>
        <p:txBody>
          <a:bodyPr wrap="square" rtlCol="0" anchor="ctr"/>
          <a:lstStyle/>
          <a:p>
            <a:pPr algn="ctr" indent="0" marL="0">
              <a:buNone/>
            </a:pPr>
            <a:r>
              <a:rPr lang="en-US" sz="3600" b="1" dirty="0">
                <a:solidFill>
                  <a:srgbClr val="14B8A6"/>
                </a:solidFill>
                <a:latin typeface="Trebuchet MS" pitchFamily="34" charset="0"/>
                <a:ea typeface="Trebuchet MS" pitchFamily="34" charset="-122"/>
                <a:cs typeface="Trebuchet MS" pitchFamily="34" charset="-120"/>
              </a:rPr>
              <a:t>02</a:t>
            </a:r>
            <a:endParaRPr lang="en-US" sz="3600" dirty="0"/>
          </a:p>
        </p:txBody>
      </p:sp>
      <p:pic>
        <p:nvPicPr>
          <p:cNvPr id="12" name="Image 2" descr="preencoded.png">    </p:cNvPr>
          <p:cNvPicPr>
            <a:picLocks noChangeAspect="1"/>
          </p:cNvPicPr>
          <p:nvPr/>
        </p:nvPicPr>
        <p:blipFill>
          <a:blip r:embed="rId3"/>
          <a:stretch>
            <a:fillRect/>
          </a:stretch>
        </p:blipFill>
        <p:spPr>
          <a:xfrm>
            <a:off x="3200400" y="2011680"/>
            <a:ext cx="457200" cy="457200"/>
          </a:xfrm>
          <a:prstGeom prst="rect">
            <a:avLst/>
          </a:prstGeom>
        </p:spPr>
      </p:pic>
      <p:sp>
        <p:nvSpPr>
          <p:cNvPr id="13" name="Text 8"/>
          <p:cNvSpPr/>
          <p:nvPr/>
        </p:nvSpPr>
        <p:spPr>
          <a:xfrm>
            <a:off x="2560320" y="2560320"/>
            <a:ext cx="1828800" cy="365760"/>
          </a:xfrm>
          <a:prstGeom prst="rect">
            <a:avLst/>
          </a:prstGeom>
          <a:noFill/>
          <a:ln/>
        </p:spPr>
        <p:txBody>
          <a:bodyPr wrap="square"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提案・設計</a:t>
            </a:r>
            <a:endParaRPr lang="en-US" sz="1400" dirty="0"/>
          </a:p>
        </p:txBody>
      </p:sp>
      <p:sp>
        <p:nvSpPr>
          <p:cNvPr id="14" name="Text 9"/>
          <p:cNvSpPr/>
          <p:nvPr/>
        </p:nvSpPr>
        <p:spPr>
          <a:xfrm>
            <a:off x="2560320" y="3017520"/>
            <a:ext cx="1828800" cy="822960"/>
          </a:xfrm>
          <a:prstGeom prst="rect">
            <a:avLst/>
          </a:prstGeom>
          <a:noFill/>
          <a:ln/>
        </p:spPr>
        <p:txBody>
          <a:bodyPr wrap="square" rtlCol="0" anchor="ctr"/>
          <a:lstStyle/>
          <a:p>
            <a:pPr algn="ctr" indent="0" marL="0">
              <a:lnSpc>
                <a:spcPct val="140000"/>
              </a:lnSpc>
              <a:buNone/>
            </a:pPr>
            <a:r>
              <a:rPr lang="en-US" sz="1000" dirty="0">
                <a:solidFill>
                  <a:srgbClr val="64748B"/>
                </a:solidFill>
                <a:latin typeface="Calibri" pitchFamily="34" charset="0"/>
                <a:ea typeface="Calibri" pitchFamily="34" charset="-122"/>
                <a:cs typeface="Calibri" pitchFamily="34" charset="-120"/>
              </a:rPr>
              <a:t>企業に合わせたプランと</a:t>
            </a:r>
            <a:endParaRPr lang="en-US" sz="1000" dirty="0"/>
          </a:p>
          <a:p>
            <a:pPr algn="ctr" indent="0" marL="0">
              <a:lnSpc>
                <a:spcPct val="140000"/>
              </a:lnSpc>
              <a:buNone/>
            </a:pPr>
            <a:r>
              <a:rPr lang="en-US" sz="1000" dirty="0">
                <a:solidFill>
                  <a:srgbClr val="64748B"/>
                </a:solidFill>
                <a:latin typeface="Calibri" pitchFamily="34" charset="0"/>
                <a:ea typeface="Calibri" pitchFamily="34" charset="-122"/>
                <a:cs typeface="Calibri" pitchFamily="34" charset="-120"/>
              </a:rPr>
              <a:t>スケジュールを提示</a:t>
            </a:r>
            <a:endParaRPr lang="en-US" sz="1000" dirty="0"/>
          </a:p>
        </p:txBody>
      </p:sp>
      <p:pic>
        <p:nvPicPr>
          <p:cNvPr id="15" name="Image 3" descr="preencoded.png">    </p:cNvPr>
          <p:cNvPicPr>
            <a:picLocks noChangeAspect="1"/>
          </p:cNvPicPr>
          <p:nvPr/>
        </p:nvPicPr>
        <p:blipFill>
          <a:blip r:embed="rId4"/>
          <a:stretch>
            <a:fillRect/>
          </a:stretch>
        </p:blipFill>
        <p:spPr>
          <a:xfrm>
            <a:off x="4572000" y="2423160"/>
            <a:ext cx="182880" cy="182880"/>
          </a:xfrm>
          <a:prstGeom prst="rect">
            <a:avLst/>
          </a:prstGeom>
        </p:spPr>
      </p:pic>
      <p:sp>
        <p:nvSpPr>
          <p:cNvPr id="16" name="Shape 10"/>
          <p:cNvSpPr/>
          <p:nvPr/>
        </p:nvSpPr>
        <p:spPr>
          <a:xfrm>
            <a:off x="4663440" y="1097280"/>
            <a:ext cx="2011680" cy="29260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7" name="Text 11"/>
          <p:cNvSpPr/>
          <p:nvPr/>
        </p:nvSpPr>
        <p:spPr>
          <a:xfrm>
            <a:off x="4754880" y="1280160"/>
            <a:ext cx="1828800" cy="640080"/>
          </a:xfrm>
          <a:prstGeom prst="rect">
            <a:avLst/>
          </a:prstGeom>
          <a:noFill/>
          <a:ln/>
        </p:spPr>
        <p:txBody>
          <a:bodyPr wrap="square" rtlCol="0" anchor="ctr"/>
          <a:lstStyle/>
          <a:p>
            <a:pPr algn="ctr" indent="0" marL="0">
              <a:buNone/>
            </a:pPr>
            <a:r>
              <a:rPr lang="en-US" sz="3600" b="1" dirty="0">
                <a:solidFill>
                  <a:srgbClr val="14B8A6"/>
                </a:solidFill>
                <a:latin typeface="Trebuchet MS" pitchFamily="34" charset="0"/>
                <a:ea typeface="Trebuchet MS" pitchFamily="34" charset="-122"/>
                <a:cs typeface="Trebuchet MS" pitchFamily="34" charset="-120"/>
              </a:rPr>
              <a:t>03</a:t>
            </a:r>
            <a:endParaRPr lang="en-US" sz="3600" dirty="0"/>
          </a:p>
        </p:txBody>
      </p:sp>
      <p:pic>
        <p:nvPicPr>
          <p:cNvPr id="18" name="Image 4" descr="preencoded.png">    </p:cNvPr>
          <p:cNvPicPr>
            <a:picLocks noChangeAspect="1"/>
          </p:cNvPicPr>
          <p:nvPr/>
        </p:nvPicPr>
        <p:blipFill>
          <a:blip r:embed="rId5"/>
          <a:stretch>
            <a:fillRect/>
          </a:stretch>
        </p:blipFill>
        <p:spPr>
          <a:xfrm>
            <a:off x="5394960" y="2011680"/>
            <a:ext cx="457200" cy="457200"/>
          </a:xfrm>
          <a:prstGeom prst="rect">
            <a:avLst/>
          </a:prstGeom>
        </p:spPr>
      </p:pic>
      <p:sp>
        <p:nvSpPr>
          <p:cNvPr id="19" name="Text 12"/>
          <p:cNvSpPr/>
          <p:nvPr/>
        </p:nvSpPr>
        <p:spPr>
          <a:xfrm>
            <a:off x="4754880" y="2560320"/>
            <a:ext cx="1828800" cy="365760"/>
          </a:xfrm>
          <a:prstGeom prst="rect">
            <a:avLst/>
          </a:prstGeom>
          <a:noFill/>
          <a:ln/>
        </p:spPr>
        <p:txBody>
          <a:bodyPr wrap="square"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実行・支援</a:t>
            </a:r>
            <a:endParaRPr lang="en-US" sz="1400" dirty="0"/>
          </a:p>
        </p:txBody>
      </p:sp>
      <p:sp>
        <p:nvSpPr>
          <p:cNvPr id="20" name="Text 13"/>
          <p:cNvSpPr/>
          <p:nvPr/>
        </p:nvSpPr>
        <p:spPr>
          <a:xfrm>
            <a:off x="4754880" y="3017520"/>
            <a:ext cx="1828800" cy="822960"/>
          </a:xfrm>
          <a:prstGeom prst="rect">
            <a:avLst/>
          </a:prstGeom>
          <a:noFill/>
          <a:ln/>
        </p:spPr>
        <p:txBody>
          <a:bodyPr wrap="square" rtlCol="0" anchor="ctr"/>
          <a:lstStyle/>
          <a:p>
            <a:pPr algn="ctr" indent="0" marL="0">
              <a:lnSpc>
                <a:spcPct val="140000"/>
              </a:lnSpc>
              <a:buNone/>
            </a:pPr>
            <a:r>
              <a:rPr lang="en-US" sz="1000" dirty="0">
                <a:solidFill>
                  <a:srgbClr val="64748B"/>
                </a:solidFill>
                <a:latin typeface="Calibri" pitchFamily="34" charset="0"/>
                <a:ea typeface="Calibri" pitchFamily="34" charset="-122"/>
                <a:cs typeface="Calibri" pitchFamily="34" charset="-120"/>
              </a:rPr>
              <a:t>専任担当者が伴走しながら</a:t>
            </a:r>
            <a:endParaRPr lang="en-US" sz="1000" dirty="0"/>
          </a:p>
          <a:p>
            <a:pPr algn="ctr" indent="0" marL="0">
              <a:lnSpc>
                <a:spcPct val="140000"/>
              </a:lnSpc>
              <a:buNone/>
            </a:pPr>
            <a:r>
              <a:rPr lang="en-US" sz="1000" dirty="0">
                <a:solidFill>
                  <a:srgbClr val="64748B"/>
                </a:solidFill>
                <a:latin typeface="Calibri" pitchFamily="34" charset="0"/>
                <a:ea typeface="Calibri" pitchFamily="34" charset="-122"/>
                <a:cs typeface="Calibri" pitchFamily="34" charset="-120"/>
              </a:rPr>
              <a:t>施策を実行</a:t>
            </a:r>
            <a:endParaRPr lang="en-US" sz="1000" dirty="0"/>
          </a:p>
        </p:txBody>
      </p:sp>
      <p:pic>
        <p:nvPicPr>
          <p:cNvPr id="21" name="Image 5" descr="preencoded.png">    </p:cNvPr>
          <p:cNvPicPr>
            <a:picLocks noChangeAspect="1"/>
          </p:cNvPicPr>
          <p:nvPr/>
        </p:nvPicPr>
        <p:blipFill>
          <a:blip r:embed="rId6"/>
          <a:stretch>
            <a:fillRect/>
          </a:stretch>
        </p:blipFill>
        <p:spPr>
          <a:xfrm>
            <a:off x="6766560" y="2423160"/>
            <a:ext cx="182880" cy="182880"/>
          </a:xfrm>
          <a:prstGeom prst="rect">
            <a:avLst/>
          </a:prstGeom>
        </p:spPr>
      </p:pic>
      <p:sp>
        <p:nvSpPr>
          <p:cNvPr id="22" name="Shape 14"/>
          <p:cNvSpPr/>
          <p:nvPr/>
        </p:nvSpPr>
        <p:spPr>
          <a:xfrm>
            <a:off x="6858000" y="1097280"/>
            <a:ext cx="2011680" cy="29260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3" name="Text 15"/>
          <p:cNvSpPr/>
          <p:nvPr/>
        </p:nvSpPr>
        <p:spPr>
          <a:xfrm>
            <a:off x="6949440" y="1280160"/>
            <a:ext cx="1828800" cy="640080"/>
          </a:xfrm>
          <a:prstGeom prst="rect">
            <a:avLst/>
          </a:prstGeom>
          <a:noFill/>
          <a:ln/>
        </p:spPr>
        <p:txBody>
          <a:bodyPr wrap="square" rtlCol="0" anchor="ctr"/>
          <a:lstStyle/>
          <a:p>
            <a:pPr algn="ctr" indent="0" marL="0">
              <a:buNone/>
            </a:pPr>
            <a:r>
              <a:rPr lang="en-US" sz="3600" b="1" dirty="0">
                <a:solidFill>
                  <a:srgbClr val="14B8A6"/>
                </a:solidFill>
                <a:latin typeface="Trebuchet MS" pitchFamily="34" charset="0"/>
                <a:ea typeface="Trebuchet MS" pitchFamily="34" charset="-122"/>
                <a:cs typeface="Trebuchet MS" pitchFamily="34" charset="-120"/>
              </a:rPr>
              <a:t>04</a:t>
            </a:r>
            <a:endParaRPr lang="en-US" sz="3600" dirty="0"/>
          </a:p>
        </p:txBody>
      </p:sp>
      <p:pic>
        <p:nvPicPr>
          <p:cNvPr id="24" name="Image 6" descr="preencoded.png">    </p:cNvPr>
          <p:cNvPicPr>
            <a:picLocks noChangeAspect="1"/>
          </p:cNvPicPr>
          <p:nvPr/>
        </p:nvPicPr>
        <p:blipFill>
          <a:blip r:embed="rId7"/>
          <a:stretch>
            <a:fillRect/>
          </a:stretch>
        </p:blipFill>
        <p:spPr>
          <a:xfrm>
            <a:off x="7589520" y="2011680"/>
            <a:ext cx="457200" cy="457200"/>
          </a:xfrm>
          <a:prstGeom prst="rect">
            <a:avLst/>
          </a:prstGeom>
        </p:spPr>
      </p:pic>
      <p:sp>
        <p:nvSpPr>
          <p:cNvPr id="25" name="Text 16"/>
          <p:cNvSpPr/>
          <p:nvPr/>
        </p:nvSpPr>
        <p:spPr>
          <a:xfrm>
            <a:off x="6949440" y="2560320"/>
            <a:ext cx="1828800" cy="365760"/>
          </a:xfrm>
          <a:prstGeom prst="rect">
            <a:avLst/>
          </a:prstGeom>
          <a:noFill/>
          <a:ln/>
        </p:spPr>
        <p:txBody>
          <a:bodyPr wrap="square"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効果測定・改善</a:t>
            </a:r>
            <a:endParaRPr lang="en-US" sz="1400" dirty="0"/>
          </a:p>
        </p:txBody>
      </p:sp>
      <p:sp>
        <p:nvSpPr>
          <p:cNvPr id="26" name="Text 17"/>
          <p:cNvSpPr/>
          <p:nvPr/>
        </p:nvSpPr>
        <p:spPr>
          <a:xfrm>
            <a:off x="6949440" y="3017520"/>
            <a:ext cx="1828800" cy="822960"/>
          </a:xfrm>
          <a:prstGeom prst="rect">
            <a:avLst/>
          </a:prstGeom>
          <a:noFill/>
          <a:ln/>
        </p:spPr>
        <p:txBody>
          <a:bodyPr wrap="square" rtlCol="0" anchor="ctr"/>
          <a:lstStyle/>
          <a:p>
            <a:pPr algn="ctr" indent="0" marL="0">
              <a:lnSpc>
                <a:spcPct val="140000"/>
              </a:lnSpc>
              <a:buNone/>
            </a:pPr>
            <a:r>
              <a:rPr lang="en-US" sz="1000" dirty="0">
                <a:solidFill>
                  <a:srgbClr val="64748B"/>
                </a:solidFill>
                <a:latin typeface="Calibri" pitchFamily="34" charset="0"/>
                <a:ea typeface="Calibri" pitchFamily="34" charset="-122"/>
                <a:cs typeface="Calibri" pitchFamily="34" charset="-120"/>
              </a:rPr>
              <a:t>成果を可視化し、次フェーズに</a:t>
            </a:r>
            <a:endParaRPr lang="en-US" sz="1000" dirty="0"/>
          </a:p>
          <a:p>
            <a:pPr algn="ctr" indent="0" marL="0">
              <a:lnSpc>
                <a:spcPct val="140000"/>
              </a:lnSpc>
              <a:buNone/>
            </a:pPr>
            <a:r>
              <a:rPr lang="en-US" sz="1000" dirty="0">
                <a:solidFill>
                  <a:srgbClr val="64748B"/>
                </a:solidFill>
                <a:latin typeface="Calibri" pitchFamily="34" charset="0"/>
                <a:ea typeface="Calibri" pitchFamily="34" charset="-122"/>
                <a:cs typeface="Calibri" pitchFamily="34" charset="-120"/>
              </a:rPr>
              <a:t>向けた改善を継続</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731520" y="1463040"/>
            <a:ext cx="7315200" cy="457200"/>
          </a:xfrm>
          <a:prstGeom prst="rect">
            <a:avLst/>
          </a:prstGeom>
          <a:noFill/>
          <a:ln/>
        </p:spPr>
        <p:txBody>
          <a:bodyPr wrap="square" rtlCol="0" anchor="ctr"/>
          <a:lstStyle/>
          <a:p>
            <a:pPr indent="0" marL="0">
              <a:buNone/>
            </a:pPr>
            <a:r>
              <a:rPr lang="en-US" sz="1400" b="1" spc="400" kern="0" dirty="0">
                <a:solidFill>
                  <a:srgbClr val="14B8A6"/>
                </a:solidFill>
                <a:latin typeface="Calibri" pitchFamily="34" charset="0"/>
                <a:ea typeface="Calibri" pitchFamily="34" charset="-122"/>
                <a:cs typeface="Calibri" pitchFamily="34" charset="-120"/>
              </a:rPr>
              <a:t>SECTION 08</a:t>
            </a:r>
            <a:endParaRPr lang="en-US" sz="1400" dirty="0"/>
          </a:p>
        </p:txBody>
      </p:sp>
      <p:sp>
        <p:nvSpPr>
          <p:cNvPr id="3" name="Text 1"/>
          <p:cNvSpPr/>
          <p:nvPr/>
        </p:nvSpPr>
        <p:spPr>
          <a:xfrm>
            <a:off x="731520" y="1920240"/>
            <a:ext cx="768096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POST CABINETSについて</a:t>
            </a:r>
            <a:endParaRPr lang="en-US" sz="3600" dirty="0"/>
          </a:p>
        </p:txBody>
      </p:sp>
      <p:sp>
        <p:nvSpPr>
          <p:cNvPr id="4" name="Shape 2"/>
          <p:cNvSpPr/>
          <p:nvPr/>
        </p:nvSpPr>
        <p:spPr>
          <a:xfrm>
            <a:off x="731520" y="3108960"/>
            <a:ext cx="1097280" cy="54864"/>
          </a:xfrm>
          <a:prstGeom prst="rect">
            <a:avLst/>
          </a:prstGeom>
          <a:solidFill>
            <a:srgbClr val="0D9488"/>
          </a:solidFill>
          <a:ln/>
        </p:spPr>
      </p:sp>
      <p:sp>
        <p:nvSpPr>
          <p:cNvPr id="5" name="Text 3"/>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会社概要・チーム体制</a:t>
            </a:r>
            <a:endParaRPr lang="en-US" sz="2200" dirty="0"/>
          </a:p>
        </p:txBody>
      </p:sp>
      <p:sp>
        <p:nvSpPr>
          <p:cNvPr id="4" name="Shape 2"/>
          <p:cNvSpPr/>
          <p:nvPr/>
        </p:nvSpPr>
        <p:spPr>
          <a:xfrm>
            <a:off x="457200" y="914400"/>
            <a:ext cx="3931920" cy="22860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Shape 3"/>
          <p:cNvSpPr/>
          <p:nvPr/>
        </p:nvSpPr>
        <p:spPr>
          <a:xfrm>
            <a:off x="457200" y="914400"/>
            <a:ext cx="3931920" cy="457200"/>
          </a:xfrm>
          <a:prstGeom prst="rect">
            <a:avLst/>
          </a:prstGeom>
          <a:solidFill>
            <a:srgbClr val="0D9488"/>
          </a:solidFill>
          <a:ln/>
        </p:spPr>
      </p:sp>
      <p:sp>
        <p:nvSpPr>
          <p:cNvPr id="6" name="Text 4"/>
          <p:cNvSpPr/>
          <p:nvPr/>
        </p:nvSpPr>
        <p:spPr>
          <a:xfrm>
            <a:off x="457200" y="914400"/>
            <a:ext cx="3931920" cy="457200"/>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会社概要</a:t>
            </a:r>
            <a:endParaRPr lang="en-US" sz="1300" dirty="0"/>
          </a:p>
        </p:txBody>
      </p:sp>
      <p:sp>
        <p:nvSpPr>
          <p:cNvPr id="7" name="Text 5"/>
          <p:cNvSpPr/>
          <p:nvPr/>
        </p:nvSpPr>
        <p:spPr>
          <a:xfrm>
            <a:off x="640080" y="1508760"/>
            <a:ext cx="914400" cy="32004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会社名</a:t>
            </a:r>
            <a:endParaRPr lang="en-US" sz="1000" dirty="0"/>
          </a:p>
        </p:txBody>
      </p:sp>
      <p:sp>
        <p:nvSpPr>
          <p:cNvPr id="8" name="Text 6"/>
          <p:cNvSpPr/>
          <p:nvPr/>
        </p:nvSpPr>
        <p:spPr>
          <a:xfrm>
            <a:off x="1645920" y="1508760"/>
            <a:ext cx="256032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POST CABINETS</a:t>
            </a:r>
            <a:endParaRPr lang="en-US" sz="1100" dirty="0"/>
          </a:p>
        </p:txBody>
      </p:sp>
      <p:sp>
        <p:nvSpPr>
          <p:cNvPr id="9" name="Text 7"/>
          <p:cNvSpPr/>
          <p:nvPr/>
        </p:nvSpPr>
        <p:spPr>
          <a:xfrm>
            <a:off x="640080" y="1920240"/>
            <a:ext cx="914400" cy="32004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代表者</a:t>
            </a:r>
            <a:endParaRPr lang="en-US" sz="1000" dirty="0"/>
          </a:p>
        </p:txBody>
      </p:sp>
      <p:sp>
        <p:nvSpPr>
          <p:cNvPr id="10" name="Text 8"/>
          <p:cNvSpPr/>
          <p:nvPr/>
        </p:nvSpPr>
        <p:spPr>
          <a:xfrm>
            <a:off x="1645920" y="1920240"/>
            <a:ext cx="256032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前田 将臣</a:t>
            </a:r>
            <a:endParaRPr lang="en-US" sz="1100" dirty="0"/>
          </a:p>
        </p:txBody>
      </p:sp>
      <p:sp>
        <p:nvSpPr>
          <p:cNvPr id="11" name="Text 9"/>
          <p:cNvSpPr/>
          <p:nvPr/>
        </p:nvSpPr>
        <p:spPr>
          <a:xfrm>
            <a:off x="640080" y="2331720"/>
            <a:ext cx="914400" cy="32004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所在地</a:t>
            </a:r>
            <a:endParaRPr lang="en-US" sz="1000" dirty="0"/>
          </a:p>
        </p:txBody>
      </p:sp>
      <p:sp>
        <p:nvSpPr>
          <p:cNvPr id="12" name="Text 10"/>
          <p:cNvSpPr/>
          <p:nvPr/>
        </p:nvSpPr>
        <p:spPr>
          <a:xfrm>
            <a:off x="1645920" y="2331720"/>
            <a:ext cx="256032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大阪府岸和田市</a:t>
            </a:r>
            <a:endParaRPr lang="en-US" sz="1100" dirty="0"/>
          </a:p>
        </p:txBody>
      </p:sp>
      <p:sp>
        <p:nvSpPr>
          <p:cNvPr id="13" name="Text 11"/>
          <p:cNvSpPr/>
          <p:nvPr/>
        </p:nvSpPr>
        <p:spPr>
          <a:xfrm>
            <a:off x="640080" y="2743200"/>
            <a:ext cx="914400" cy="32004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設立</a:t>
            </a:r>
            <a:endParaRPr lang="en-US" sz="1000" dirty="0"/>
          </a:p>
        </p:txBody>
      </p:sp>
      <p:sp>
        <p:nvSpPr>
          <p:cNvPr id="14" name="Text 12"/>
          <p:cNvSpPr/>
          <p:nvPr/>
        </p:nvSpPr>
        <p:spPr>
          <a:xfrm>
            <a:off x="1645920" y="2743200"/>
            <a:ext cx="2560320" cy="320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2023年</a:t>
            </a:r>
            <a:endParaRPr lang="en-US" sz="1100" dirty="0"/>
          </a:p>
        </p:txBody>
      </p:sp>
      <p:sp>
        <p:nvSpPr>
          <p:cNvPr id="15" name="Shape 13"/>
          <p:cNvSpPr/>
          <p:nvPr/>
        </p:nvSpPr>
        <p:spPr>
          <a:xfrm>
            <a:off x="4754880" y="914400"/>
            <a:ext cx="3931920" cy="22860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Shape 14"/>
          <p:cNvSpPr/>
          <p:nvPr/>
        </p:nvSpPr>
        <p:spPr>
          <a:xfrm>
            <a:off x="4754880" y="914400"/>
            <a:ext cx="3931920" cy="457200"/>
          </a:xfrm>
          <a:prstGeom prst="rect">
            <a:avLst/>
          </a:prstGeom>
          <a:solidFill>
            <a:srgbClr val="0D9488"/>
          </a:solidFill>
          <a:ln/>
        </p:spPr>
      </p:sp>
      <p:sp>
        <p:nvSpPr>
          <p:cNvPr id="17" name="Text 15"/>
          <p:cNvSpPr/>
          <p:nvPr/>
        </p:nvSpPr>
        <p:spPr>
          <a:xfrm>
            <a:off x="4754880" y="914400"/>
            <a:ext cx="3931920" cy="457200"/>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チーム体制</a:t>
            </a:r>
            <a:endParaRPr lang="en-US" sz="1300" dirty="0"/>
          </a:p>
        </p:txBody>
      </p:sp>
      <p:sp>
        <p:nvSpPr>
          <p:cNvPr id="18" name="Text 16"/>
          <p:cNvSpPr/>
          <p:nvPr/>
        </p:nvSpPr>
        <p:spPr>
          <a:xfrm>
            <a:off x="4937760" y="1463040"/>
            <a:ext cx="1280160" cy="274320"/>
          </a:xfrm>
          <a:prstGeom prst="rect">
            <a:avLst/>
          </a:prstGeom>
          <a:noFill/>
          <a:ln/>
        </p:spPr>
        <p:txBody>
          <a:bodyPr wrap="square"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前田 将臣</a:t>
            </a:r>
            <a:endParaRPr lang="en-US" sz="1000" dirty="0"/>
          </a:p>
        </p:txBody>
      </p:sp>
      <p:sp>
        <p:nvSpPr>
          <p:cNvPr id="19" name="Text 17"/>
          <p:cNvSpPr/>
          <p:nvPr/>
        </p:nvSpPr>
        <p:spPr>
          <a:xfrm>
            <a:off x="6309360" y="1463040"/>
            <a:ext cx="21945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代表 / AI活用戦略</a:t>
            </a:r>
            <a:endParaRPr lang="en-US" sz="1000" dirty="0"/>
          </a:p>
        </p:txBody>
      </p:sp>
      <p:sp>
        <p:nvSpPr>
          <p:cNvPr id="20" name="Text 18"/>
          <p:cNvSpPr/>
          <p:nvPr/>
        </p:nvSpPr>
        <p:spPr>
          <a:xfrm>
            <a:off x="4937760" y="1810512"/>
            <a:ext cx="1280160" cy="274320"/>
          </a:xfrm>
          <a:prstGeom prst="rect">
            <a:avLst/>
          </a:prstGeom>
          <a:noFill/>
          <a:ln/>
        </p:spPr>
        <p:txBody>
          <a:bodyPr wrap="square"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黒崎 優斗</a:t>
            </a:r>
            <a:endParaRPr lang="en-US" sz="1000" dirty="0"/>
          </a:p>
        </p:txBody>
      </p:sp>
      <p:sp>
        <p:nvSpPr>
          <p:cNvPr id="21" name="Text 19"/>
          <p:cNvSpPr/>
          <p:nvPr/>
        </p:nvSpPr>
        <p:spPr>
          <a:xfrm>
            <a:off x="6309360" y="1810512"/>
            <a:ext cx="21945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AI実務実装プランナー</a:t>
            </a:r>
            <a:endParaRPr lang="en-US" sz="1000" dirty="0"/>
          </a:p>
        </p:txBody>
      </p:sp>
      <p:sp>
        <p:nvSpPr>
          <p:cNvPr id="22" name="Text 20"/>
          <p:cNvSpPr/>
          <p:nvPr/>
        </p:nvSpPr>
        <p:spPr>
          <a:xfrm>
            <a:off x="4937760" y="2157984"/>
            <a:ext cx="1280160" cy="274320"/>
          </a:xfrm>
          <a:prstGeom prst="rect">
            <a:avLst/>
          </a:prstGeom>
          <a:noFill/>
          <a:ln/>
        </p:spPr>
        <p:txBody>
          <a:bodyPr wrap="square"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内村 元哉</a:t>
            </a:r>
            <a:endParaRPr lang="en-US" sz="1000" dirty="0"/>
          </a:p>
        </p:txBody>
      </p:sp>
      <p:sp>
        <p:nvSpPr>
          <p:cNvPr id="23" name="Text 21"/>
          <p:cNvSpPr/>
          <p:nvPr/>
        </p:nvSpPr>
        <p:spPr>
          <a:xfrm>
            <a:off x="6309360" y="2157984"/>
            <a:ext cx="21945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AIセールスプランナー</a:t>
            </a:r>
            <a:endParaRPr lang="en-US" sz="1000" dirty="0"/>
          </a:p>
        </p:txBody>
      </p:sp>
      <p:sp>
        <p:nvSpPr>
          <p:cNvPr id="24" name="Text 22"/>
          <p:cNvSpPr/>
          <p:nvPr/>
        </p:nvSpPr>
        <p:spPr>
          <a:xfrm>
            <a:off x="4937760" y="2505456"/>
            <a:ext cx="1280160" cy="274320"/>
          </a:xfrm>
          <a:prstGeom prst="rect">
            <a:avLst/>
          </a:prstGeom>
          <a:noFill/>
          <a:ln/>
        </p:spPr>
        <p:txBody>
          <a:bodyPr wrap="square"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野田 剛佑</a:t>
            </a:r>
            <a:endParaRPr lang="en-US" sz="1000" dirty="0"/>
          </a:p>
        </p:txBody>
      </p:sp>
      <p:sp>
        <p:nvSpPr>
          <p:cNvPr id="25" name="Text 23"/>
          <p:cNvSpPr/>
          <p:nvPr/>
        </p:nvSpPr>
        <p:spPr>
          <a:xfrm>
            <a:off x="6309360" y="2505456"/>
            <a:ext cx="21945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ソリューションプランナー</a:t>
            </a:r>
            <a:endParaRPr lang="en-US" sz="1000" dirty="0"/>
          </a:p>
        </p:txBody>
      </p:sp>
      <p:sp>
        <p:nvSpPr>
          <p:cNvPr id="26" name="Text 24"/>
          <p:cNvSpPr/>
          <p:nvPr/>
        </p:nvSpPr>
        <p:spPr>
          <a:xfrm>
            <a:off x="4937760" y="2852928"/>
            <a:ext cx="1280160" cy="274320"/>
          </a:xfrm>
          <a:prstGeom prst="rect">
            <a:avLst/>
          </a:prstGeom>
          <a:noFill/>
          <a:ln/>
        </p:spPr>
        <p:txBody>
          <a:bodyPr wrap="square"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松本 峻輔</a:t>
            </a:r>
            <a:endParaRPr lang="en-US" sz="1000" dirty="0"/>
          </a:p>
        </p:txBody>
      </p:sp>
      <p:sp>
        <p:nvSpPr>
          <p:cNvPr id="27" name="Text 25"/>
          <p:cNvSpPr/>
          <p:nvPr/>
        </p:nvSpPr>
        <p:spPr>
          <a:xfrm>
            <a:off x="6309360" y="2852928"/>
            <a:ext cx="21945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AI開発パートナー</a:t>
            </a:r>
            <a:endParaRPr lang="en-US" sz="1000" dirty="0"/>
          </a:p>
        </p:txBody>
      </p:sp>
      <p:sp>
        <p:nvSpPr>
          <p:cNvPr id="28" name="Text 26"/>
          <p:cNvSpPr/>
          <p:nvPr/>
        </p:nvSpPr>
        <p:spPr>
          <a:xfrm>
            <a:off x="457200" y="3383280"/>
            <a:ext cx="8229600" cy="411480"/>
          </a:xfrm>
          <a:prstGeom prst="rect">
            <a:avLst/>
          </a:prstGeom>
          <a:noFill/>
          <a:ln/>
        </p:spPr>
        <p:txBody>
          <a:bodyPr wrap="square" lIns="0" tIns="0" rIns="0" bIns="0" rtlCol="0" anchor="ctr"/>
          <a:lstStyle/>
          <a:p>
            <a:pPr indent="0" marL="0">
              <a:buNone/>
            </a:pPr>
            <a:r>
              <a:rPr lang="en-US" sz="1600" b="1" dirty="0">
                <a:solidFill>
                  <a:srgbClr val="1E293B"/>
                </a:solidFill>
                <a:latin typeface="Trebuchet MS" pitchFamily="34" charset="0"/>
                <a:ea typeface="Trebuchet MS" pitchFamily="34" charset="-122"/>
                <a:cs typeface="Trebuchet MS" pitchFamily="34" charset="-120"/>
              </a:rPr>
              <a:t>POST CABINETSを選ぶ理由</a:t>
            </a:r>
            <a:endParaRPr lang="en-US" sz="1600" dirty="0"/>
          </a:p>
        </p:txBody>
      </p:sp>
      <p:sp>
        <p:nvSpPr>
          <p:cNvPr id="29" name="Shape 27"/>
          <p:cNvSpPr/>
          <p:nvPr/>
        </p:nvSpPr>
        <p:spPr>
          <a:xfrm>
            <a:off x="274320" y="3886200"/>
            <a:ext cx="274320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0" name="Shape 28"/>
          <p:cNvSpPr/>
          <p:nvPr/>
        </p:nvSpPr>
        <p:spPr>
          <a:xfrm>
            <a:off x="274320" y="3886200"/>
            <a:ext cx="54864" cy="1051560"/>
          </a:xfrm>
          <a:prstGeom prst="rect">
            <a:avLst/>
          </a:prstGeom>
          <a:solidFill>
            <a:srgbClr val="0D9488"/>
          </a:solidFill>
          <a:ln/>
        </p:spPr>
      </p:sp>
      <p:pic>
        <p:nvPicPr>
          <p:cNvPr id="31" name="Image 0" descr="preencoded.png">    </p:cNvPr>
          <p:cNvPicPr>
            <a:picLocks noChangeAspect="1"/>
          </p:cNvPicPr>
          <p:nvPr/>
        </p:nvPicPr>
        <p:blipFill>
          <a:blip r:embed="rId1"/>
          <a:stretch>
            <a:fillRect/>
          </a:stretch>
        </p:blipFill>
        <p:spPr>
          <a:xfrm>
            <a:off x="457200" y="3977640"/>
            <a:ext cx="320040" cy="320040"/>
          </a:xfrm>
          <a:prstGeom prst="rect">
            <a:avLst/>
          </a:prstGeom>
        </p:spPr>
      </p:pic>
      <p:sp>
        <p:nvSpPr>
          <p:cNvPr id="32" name="Text 29"/>
          <p:cNvSpPr/>
          <p:nvPr/>
        </p:nvSpPr>
        <p:spPr>
          <a:xfrm>
            <a:off x="822960" y="3931920"/>
            <a:ext cx="2011680" cy="320040"/>
          </a:xfrm>
          <a:prstGeom prst="rect">
            <a:avLst/>
          </a:prstGeom>
          <a:noFill/>
          <a:ln/>
        </p:spPr>
        <p:txBody>
          <a:bodyPr wrap="square" rtlCol="0" anchor="ctr"/>
          <a:lstStyle/>
          <a:p>
            <a:pPr indent="0" marL="0">
              <a:buNone/>
            </a:pPr>
            <a:r>
              <a:rPr lang="en-US" sz="1100" b="1" dirty="0">
                <a:solidFill>
                  <a:srgbClr val="1E293B"/>
                </a:solidFill>
                <a:latin typeface="Trebuchet MS" pitchFamily="34" charset="0"/>
                <a:ea typeface="Trebuchet MS" pitchFamily="34" charset="-122"/>
                <a:cs typeface="Trebuchet MS" pitchFamily="34" charset="-120"/>
              </a:rPr>
              <a:t>研修と伴走が一体</a:t>
            </a:r>
            <a:endParaRPr lang="en-US" sz="1100" dirty="0"/>
          </a:p>
        </p:txBody>
      </p:sp>
      <p:sp>
        <p:nvSpPr>
          <p:cNvPr id="33" name="Text 30"/>
          <p:cNvSpPr/>
          <p:nvPr/>
        </p:nvSpPr>
        <p:spPr>
          <a:xfrm>
            <a:off x="457200" y="4343400"/>
            <a:ext cx="2377440" cy="502920"/>
          </a:xfrm>
          <a:prstGeom prst="rect">
            <a:avLst/>
          </a:prstGeom>
          <a:noFill/>
          <a:ln/>
        </p:spPr>
        <p:txBody>
          <a:bodyPr wrap="square" rtlCol="0" anchor="t"/>
          <a:lstStyle/>
          <a:p>
            <a:pPr indent="0" marL="0">
              <a:lnSpc>
                <a:spcPct val="130000"/>
              </a:lnSpc>
              <a:buNone/>
            </a:pPr>
            <a:r>
              <a:rPr lang="en-US" sz="900" dirty="0">
                <a:solidFill>
                  <a:srgbClr val="64748B"/>
                </a:solidFill>
                <a:latin typeface="Calibri" pitchFamily="34" charset="0"/>
                <a:ea typeface="Calibri" pitchFamily="34" charset="-122"/>
                <a:cs typeface="Calibri" pitchFamily="34" charset="-120"/>
              </a:rPr>
              <a:t>教えた講師がそのまま現場に入って実装。業務理解にギャップが生まれない。</a:t>
            </a:r>
            <a:endParaRPr lang="en-US" sz="900" dirty="0"/>
          </a:p>
        </p:txBody>
      </p:sp>
      <p:sp>
        <p:nvSpPr>
          <p:cNvPr id="34" name="Shape 31"/>
          <p:cNvSpPr/>
          <p:nvPr/>
        </p:nvSpPr>
        <p:spPr>
          <a:xfrm>
            <a:off x="3200400" y="3886200"/>
            <a:ext cx="274320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35" name="Shape 32"/>
          <p:cNvSpPr/>
          <p:nvPr/>
        </p:nvSpPr>
        <p:spPr>
          <a:xfrm>
            <a:off x="3200400" y="3886200"/>
            <a:ext cx="54864" cy="1051560"/>
          </a:xfrm>
          <a:prstGeom prst="rect">
            <a:avLst/>
          </a:prstGeom>
          <a:solidFill>
            <a:srgbClr val="0D9488"/>
          </a:solidFill>
          <a:ln/>
        </p:spPr>
      </p:sp>
      <p:pic>
        <p:nvPicPr>
          <p:cNvPr id="36" name="Image 1" descr="preencoded.png">    </p:cNvPr>
          <p:cNvPicPr>
            <a:picLocks noChangeAspect="1"/>
          </p:cNvPicPr>
          <p:nvPr/>
        </p:nvPicPr>
        <p:blipFill>
          <a:blip r:embed="rId2"/>
          <a:stretch>
            <a:fillRect/>
          </a:stretch>
        </p:blipFill>
        <p:spPr>
          <a:xfrm>
            <a:off x="3383280" y="3977640"/>
            <a:ext cx="320040" cy="320040"/>
          </a:xfrm>
          <a:prstGeom prst="rect">
            <a:avLst/>
          </a:prstGeom>
        </p:spPr>
      </p:pic>
      <p:sp>
        <p:nvSpPr>
          <p:cNvPr id="37" name="Text 33"/>
          <p:cNvSpPr/>
          <p:nvPr/>
        </p:nvSpPr>
        <p:spPr>
          <a:xfrm>
            <a:off x="3749040" y="3931920"/>
            <a:ext cx="2011680" cy="320040"/>
          </a:xfrm>
          <a:prstGeom prst="rect">
            <a:avLst/>
          </a:prstGeom>
          <a:noFill/>
          <a:ln/>
        </p:spPr>
        <p:txBody>
          <a:bodyPr wrap="square" rtlCol="0" anchor="ctr"/>
          <a:lstStyle/>
          <a:p>
            <a:pPr indent="0" marL="0">
              <a:buNone/>
            </a:pPr>
            <a:r>
              <a:rPr lang="en-US" sz="1100" b="1" dirty="0">
                <a:solidFill>
                  <a:srgbClr val="1E293B"/>
                </a:solidFill>
                <a:latin typeface="Trebuchet MS" pitchFamily="34" charset="0"/>
                <a:ea typeface="Trebuchet MS" pitchFamily="34" charset="-122"/>
                <a:cs typeface="Trebuchet MS" pitchFamily="34" charset="-120"/>
              </a:rPr>
              <a:t>実装力を持つチームが直接支援</a:t>
            </a:r>
            <a:endParaRPr lang="en-US" sz="1100" dirty="0"/>
          </a:p>
        </p:txBody>
      </p:sp>
      <p:sp>
        <p:nvSpPr>
          <p:cNvPr id="38" name="Text 34"/>
          <p:cNvSpPr/>
          <p:nvPr/>
        </p:nvSpPr>
        <p:spPr>
          <a:xfrm>
            <a:off x="3383280" y="4343400"/>
            <a:ext cx="2377440" cy="502920"/>
          </a:xfrm>
          <a:prstGeom prst="rect">
            <a:avLst/>
          </a:prstGeom>
          <a:noFill/>
          <a:ln/>
        </p:spPr>
        <p:txBody>
          <a:bodyPr wrap="square" rtlCol="0" anchor="t"/>
          <a:lstStyle/>
          <a:p>
            <a:pPr indent="0" marL="0">
              <a:lnSpc>
                <a:spcPct val="130000"/>
              </a:lnSpc>
              <a:buNone/>
            </a:pPr>
            <a:r>
              <a:rPr lang="en-US" sz="900" dirty="0">
                <a:solidFill>
                  <a:srgbClr val="64748B"/>
                </a:solidFill>
                <a:latin typeface="Calibri" pitchFamily="34" charset="0"/>
                <a:ea typeface="Calibri" pitchFamily="34" charset="-122"/>
                <a:cs typeface="Calibri" pitchFamily="34" charset="-120"/>
              </a:rPr>
              <a:t>大手企業のAI開発を主導したメンバーが、クライアントの現場で手を動かす。</a:t>
            </a:r>
            <a:endParaRPr lang="en-US" sz="900" dirty="0"/>
          </a:p>
        </p:txBody>
      </p:sp>
      <p:sp>
        <p:nvSpPr>
          <p:cNvPr id="39" name="Shape 35"/>
          <p:cNvSpPr/>
          <p:nvPr/>
        </p:nvSpPr>
        <p:spPr>
          <a:xfrm>
            <a:off x="6126480" y="3886200"/>
            <a:ext cx="2743200" cy="10515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0" name="Shape 36"/>
          <p:cNvSpPr/>
          <p:nvPr/>
        </p:nvSpPr>
        <p:spPr>
          <a:xfrm>
            <a:off x="6126480" y="3886200"/>
            <a:ext cx="54864" cy="1051560"/>
          </a:xfrm>
          <a:prstGeom prst="rect">
            <a:avLst/>
          </a:prstGeom>
          <a:solidFill>
            <a:srgbClr val="0D9488"/>
          </a:solidFill>
          <a:ln/>
        </p:spPr>
      </p:sp>
      <p:pic>
        <p:nvPicPr>
          <p:cNvPr id="41" name="Image 2" descr="preencoded.png">    </p:cNvPr>
          <p:cNvPicPr>
            <a:picLocks noChangeAspect="1"/>
          </p:cNvPicPr>
          <p:nvPr/>
        </p:nvPicPr>
        <p:blipFill>
          <a:blip r:embed="rId3"/>
          <a:stretch>
            <a:fillRect/>
          </a:stretch>
        </p:blipFill>
        <p:spPr>
          <a:xfrm>
            <a:off x="6309360" y="3977640"/>
            <a:ext cx="320040" cy="320040"/>
          </a:xfrm>
          <a:prstGeom prst="rect">
            <a:avLst/>
          </a:prstGeom>
        </p:spPr>
      </p:pic>
      <p:sp>
        <p:nvSpPr>
          <p:cNvPr id="42" name="Text 37"/>
          <p:cNvSpPr/>
          <p:nvPr/>
        </p:nvSpPr>
        <p:spPr>
          <a:xfrm>
            <a:off x="6675120" y="3931920"/>
            <a:ext cx="2011680" cy="320040"/>
          </a:xfrm>
          <a:prstGeom prst="rect">
            <a:avLst/>
          </a:prstGeom>
          <a:noFill/>
          <a:ln/>
        </p:spPr>
        <p:txBody>
          <a:bodyPr wrap="square" rtlCol="0" anchor="ctr"/>
          <a:lstStyle/>
          <a:p>
            <a:pPr indent="0" marL="0">
              <a:buNone/>
            </a:pPr>
            <a:r>
              <a:rPr lang="en-US" sz="1100" b="1" dirty="0">
                <a:solidFill>
                  <a:srgbClr val="1E293B"/>
                </a:solidFill>
                <a:latin typeface="Trebuchet MS" pitchFamily="34" charset="0"/>
                <a:ea typeface="Trebuchet MS" pitchFamily="34" charset="-122"/>
                <a:cs typeface="Trebuchet MS" pitchFamily="34" charset="-120"/>
              </a:rPr>
              <a:t>AI業界の変化に常に追従</a:t>
            </a:r>
            <a:endParaRPr lang="en-US" sz="1100" dirty="0"/>
          </a:p>
        </p:txBody>
      </p:sp>
      <p:sp>
        <p:nvSpPr>
          <p:cNvPr id="43" name="Text 38"/>
          <p:cNvSpPr/>
          <p:nvPr/>
        </p:nvSpPr>
        <p:spPr>
          <a:xfrm>
            <a:off x="6309360" y="4343400"/>
            <a:ext cx="2377440" cy="502920"/>
          </a:xfrm>
          <a:prstGeom prst="rect">
            <a:avLst/>
          </a:prstGeom>
          <a:noFill/>
          <a:ln/>
        </p:spPr>
        <p:txBody>
          <a:bodyPr wrap="square" rtlCol="0" anchor="t"/>
          <a:lstStyle/>
          <a:p>
            <a:pPr indent="0" marL="0">
              <a:lnSpc>
                <a:spcPct val="130000"/>
              </a:lnSpc>
              <a:buNone/>
            </a:pPr>
            <a:r>
              <a:rPr lang="en-US" sz="900" dirty="0">
                <a:solidFill>
                  <a:srgbClr val="64748B"/>
                </a:solidFill>
                <a:latin typeface="Calibri" pitchFamily="34" charset="0"/>
                <a:ea typeface="Calibri" pitchFamily="34" charset="-122"/>
                <a:cs typeface="Calibri" pitchFamily="34" charset="-120"/>
              </a:rPr>
              <a:t>サブスクモデルで研修を常時アップデート。半年前の資料で教えることはない。</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457200" y="1097280"/>
            <a:ext cx="8229600" cy="731520"/>
          </a:xfrm>
          <a:prstGeom prst="rect">
            <a:avLst/>
          </a:prstGeom>
          <a:noFill/>
          <a:ln/>
        </p:spPr>
        <p:txBody>
          <a:bodyPr wrap="square"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ご相談はお気軽に</a:t>
            </a:r>
            <a:endParaRPr lang="en-US" sz="3600" dirty="0"/>
          </a:p>
        </p:txBody>
      </p:sp>
      <p:sp>
        <p:nvSpPr>
          <p:cNvPr id="3" name="Shape 1"/>
          <p:cNvSpPr/>
          <p:nvPr/>
        </p:nvSpPr>
        <p:spPr>
          <a:xfrm>
            <a:off x="4023360" y="1920240"/>
            <a:ext cx="1097280" cy="54864"/>
          </a:xfrm>
          <a:prstGeom prst="rect">
            <a:avLst/>
          </a:prstGeom>
          <a:solidFill>
            <a:srgbClr val="0D9488"/>
          </a:solidFill>
          <a:ln/>
        </p:spPr>
      </p:sp>
      <p:sp>
        <p:nvSpPr>
          <p:cNvPr id="4" name="Text 2"/>
          <p:cNvSpPr/>
          <p:nvPr/>
        </p:nvSpPr>
        <p:spPr>
          <a:xfrm>
            <a:off x="457200" y="2286000"/>
            <a:ext cx="8229600" cy="457200"/>
          </a:xfrm>
          <a:prstGeom prst="rect">
            <a:avLst/>
          </a:prstGeom>
          <a:noFill/>
          <a:ln/>
        </p:spPr>
        <p:txBody>
          <a:bodyPr wrap="square" rtlCol="0" anchor="ctr"/>
          <a:lstStyle/>
          <a:p>
            <a:pPr algn="ctr" indent="0" marL="0">
              <a:buNone/>
            </a:pPr>
            <a:r>
              <a:rPr lang="en-US" sz="1600" spc="400" kern="0" dirty="0">
                <a:solidFill>
                  <a:srgbClr val="14B8A6"/>
                </a:solidFill>
                <a:latin typeface="Calibri" pitchFamily="34" charset="0"/>
                <a:ea typeface="Calibri" pitchFamily="34" charset="-122"/>
                <a:cs typeface="Calibri" pitchFamily="34" charset="-120"/>
              </a:rPr>
              <a:t>POST CABINETS</a:t>
            </a:r>
            <a:endParaRPr lang="en-US" sz="1600" dirty="0"/>
          </a:p>
        </p:txBody>
      </p:sp>
      <p:pic>
        <p:nvPicPr>
          <p:cNvPr id="5" name="Image 0" descr="preencoded.png">    </p:cNvPr>
          <p:cNvPicPr>
            <a:picLocks noChangeAspect="1"/>
          </p:cNvPicPr>
          <p:nvPr/>
        </p:nvPicPr>
        <p:blipFill>
          <a:blip r:embed="rId1"/>
          <a:stretch>
            <a:fillRect/>
          </a:stretch>
        </p:blipFill>
        <p:spPr>
          <a:xfrm>
            <a:off x="3291840" y="3017520"/>
            <a:ext cx="274320" cy="274320"/>
          </a:xfrm>
          <a:prstGeom prst="rect">
            <a:avLst/>
          </a:prstGeom>
        </p:spPr>
      </p:pic>
      <p:sp>
        <p:nvSpPr>
          <p:cNvPr id="6" name="Text 3"/>
          <p:cNvSpPr/>
          <p:nvPr/>
        </p:nvSpPr>
        <p:spPr>
          <a:xfrm>
            <a:off x="3657600" y="2971800"/>
            <a:ext cx="274320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info@postcabinets.com</a:t>
            </a:r>
            <a:endParaRPr lang="en-US" sz="1400" dirty="0"/>
          </a:p>
        </p:txBody>
      </p:sp>
      <p:pic>
        <p:nvPicPr>
          <p:cNvPr id="7" name="Image 1" descr="preencoded.png">    </p:cNvPr>
          <p:cNvPicPr>
            <a:picLocks noChangeAspect="1"/>
          </p:cNvPicPr>
          <p:nvPr/>
        </p:nvPicPr>
        <p:blipFill>
          <a:blip r:embed="rId2"/>
          <a:stretch>
            <a:fillRect/>
          </a:stretch>
        </p:blipFill>
        <p:spPr>
          <a:xfrm>
            <a:off x="3291840" y="3474720"/>
            <a:ext cx="274320" cy="274320"/>
          </a:xfrm>
          <a:prstGeom prst="rect">
            <a:avLst/>
          </a:prstGeom>
        </p:spPr>
      </p:pic>
      <p:sp>
        <p:nvSpPr>
          <p:cNvPr id="8" name="Text 4"/>
          <p:cNvSpPr/>
          <p:nvPr/>
        </p:nvSpPr>
        <p:spPr>
          <a:xfrm>
            <a:off x="3657600" y="3429000"/>
            <a:ext cx="274320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大阪府岸和田市</a:t>
            </a:r>
            <a:endParaRPr lang="en-US" sz="1400" dirty="0"/>
          </a:p>
        </p:txBody>
      </p:sp>
      <p:sp>
        <p:nvSpPr>
          <p:cNvPr id="9" name="Text 5"/>
          <p:cNvSpPr/>
          <p:nvPr/>
        </p:nvSpPr>
        <p:spPr>
          <a:xfrm>
            <a:off x="8412480" y="4709160"/>
            <a:ext cx="457200" cy="32004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 CABINETS AIコンサルティング サービス資料</dc:title>
  <dc:subject>PptxGenJS Presentation</dc:subject>
  <dc:creator>POST CABINETS</dc:creator>
  <cp:lastModifiedBy>POST CABINETS</cp:lastModifiedBy>
  <cp:revision>1</cp:revision>
  <dcterms:created xsi:type="dcterms:W3CDTF">2026-03-26T06:05:38Z</dcterms:created>
  <dcterms:modified xsi:type="dcterms:W3CDTF">2026-03-26T06:05:38Z</dcterms:modified>
</cp:coreProperties>
</file>